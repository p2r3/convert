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282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2DEC35-4B9C-F612-5B7E-3C663ED5A3FD}" name="Qisong QS1 Zheng" initials="QZ" userId="S::zhengqs1@Lenovo.com::d1ace639-2dda-4147-8dda-d09784697760" providerId="AD"/>
  <p188:author id="{A8D17643-2FCA-9623-1729-00B55460FE33}" name="Caiqin CQ1 Zhou | 周彩钦" initials="CCZ|周" userId="S::zhoucq1@LENOVO.COM::20422d0e-adbb-4485-b38f-ad2a44b9417e" providerId="AD"/>
  <p188:author id="{AD47DF48-4707-E989-A249-6B576B7835E3}" name="Qian Qian51 Zhang" initials="QZ" userId="S::zhangqian51@Lenovo.com::723f634e-4dd7-4e18-bedf-0d82d6060b6f" providerId="AD"/>
  <p188:author id="{7A39C05D-0D5E-E61F-D106-EC0E16ED279C}" name="Xinjuan XJ11 Xu" initials="XX" userId="S::xuxj11@Lenovo.com::7ca91b3f-cdc9-4a89-9a3e-1f0586672a5e" providerId="AD"/>
  <p188:author id="{51939F71-FB36-B2E1-8724-5F6090D70F0B}" name="Jin Jin3 Luo" initials="JL" userId="S::luojin3@Lenovo.com::518349b1-ca87-48f7-a3dd-77ed30ef1591" providerId="AD"/>
  <p188:author id="{5D51AD74-6B26-BBBD-B49A-4A2A3B20F8EC}" name="Ruobing RB1 Bai | 白若兵" initials="RB" userId="S::bairb1@Lenovo.com::af8d548f-0079-4290-b01e-a5ffe955da46" providerId="AD"/>
  <p188:author id="{A863D37A-9602-D5C7-9C82-B021043E12F9}" name="Xiang Xiang18 Liu" initials="XL" userId="S::liuxiang18@Lenovo.com::94f26941-2f65-4df6-857f-429011c05362" providerId="AD"/>
  <p188:author id="{BCA9A08B-6123-C2EF-5012-9C8993206E65}" name="Qian Qian51 Zhang" initials="QZ" userId="S::zhangqian51@lenovo.com::723f634e-4dd7-4e18-bedf-0d82d6060b6f" providerId="AD"/>
  <p188:author id="{F7CA8191-A65D-47C5-5E02-C7DCF0834F5A}" name="Xiaochao XC15 Li | 李小超" initials="XL" userId="S::lixc15@Lenovo.com::20c6b2ed-66ac-4b1d-8269-9e3ac8445730" providerId="AD"/>
  <p188:author id="{B5FF9B99-3950-49C9-6DB7-DF44026BFE47}" name="Tuo Tuo1 Guo" initials="" userId="S::guotuo1@Lenovo.com::bf05ad49-6379-477c-958c-5366201f7939" providerId="AD"/>
  <p188:author id="{C06944A9-C964-AE17-2295-03AE15A75E33}" name="Cuifen CF1 Hu" initials="CH" userId="S::hucf1@lenovo.com::97bf2994-b982-408f-a117-291397131097" providerId="AD"/>
  <p188:author id="{B2C9A0B1-DA7E-57C4-E8E9-CA317822F056}" name="Huanwei HW21 Li | 李焕炜" initials="HL" userId="S::lihw21@Lenovo.com::a38abd08-a8eb-4aa1-8625-378c8c856586" providerId="AD"/>
  <p188:author id="{4FEBEDB8-26CE-F20E-519D-280696C31892}" name="Panya PY1 Liu" initials="PL" userId="S::liupy1@LENOVO.COM::b403b950-25c2-4b9f-a3fb-93569f3fcd12" providerId="AD"/>
  <p188:author id="{FADAFCC6-9706-7695-B446-8EB2699E390B}" name="Rina RN2 Su" initials="RS" userId="S::surn2@Lenovo.com::80d659ab-52da-4b7e-abd0-7c550b541a1d" providerId="AD"/>
  <p188:author id="{4194C6CC-CF6D-6C48-AC1E-EB5F0306542D}" name="Chunmeng CM1 Jin" initials="" userId="S::jincm1@LENOVO.COM::f86511fc-8f06-4a4f-9212-6d0fca16ef92" providerId="AD"/>
  <p188:author id="{A7E880CD-84DB-1830-2D0C-3FC6E913A129}" name="Qiaohuan QH1 Han | 韩巧焕" initials="" userId="S::hanqh1@Lenovo.com::95959d3f-1f8d-4078-aecc-c26e690f8cc7" providerId="AD"/>
  <p188:author id="{BE8C1FD8-0383-0A5A-BFF9-43E17B167E58}" name="Lucy Rich1" initials="LR" userId="S::lrich@lenovo.com::cd878466-2710-4e38-b31a-686e011f8cf7" providerId="AD"/>
  <p188:author id="{DD5F4CED-1F90-76BF-7161-0A1473307753}" name="Junbai JB7 Wu | 吴俊柏" initials="JW" userId="S::wujb7@Lenovo.com::58d9defa-4d10-4d08-bd70-0408e7fee869" providerId="AD"/>
  <p188:author id="{EE656CF6-6D4A-F210-8900-68AE87D4B7CF}" name="Zhixin ZX8 Zhou" initials="ZZZ" userId="S::zhouzx8@Lenovo.com::62902d46-5f96-4991-8de3-0daeddc06f37" providerId="AD"/>
  <p188:author id="{F94B8DFB-3131-CCEF-13A3-9A50CD886065}" name="Tong Tong14 Liu" initials="TL" userId="S::liutong14@Lenovo.com::251cae52-d7c6-4551-a275-3af914fbfca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50"/>
    <a:srgbClr val="FFC000"/>
    <a:srgbClr val="46ADEF"/>
    <a:srgbClr val="F7C319"/>
    <a:srgbClr val="72299F"/>
    <a:srgbClr val="BBB1BB"/>
    <a:srgbClr val="D8DCF6"/>
    <a:srgbClr val="3B51D4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02"/>
    <p:restoredTop sz="94521"/>
  </p:normalViewPr>
  <p:slideViewPr>
    <p:cSldViewPr snapToGrid="0">
      <p:cViewPr varScale="1">
        <p:scale>
          <a:sx n="102" d="100"/>
          <a:sy n="102" d="100"/>
        </p:scale>
        <p:origin x="1208" y="472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 Jin3 Luo" userId="518349b1-ca87-48f7-a3dd-77ed30ef1591" providerId="ADAL" clId="{304B886B-E1A8-5A0F-B2D9-AE841DCD749C}"/>
    <pc:docChg chg="modSld">
      <pc:chgData name="Jin Jin3 Luo" userId="518349b1-ca87-48f7-a3dd-77ed30ef1591" providerId="ADAL" clId="{304B886B-E1A8-5A0F-B2D9-AE841DCD749C}" dt="2026-01-08T06:53:52.684" v="13" actId="20577"/>
      <pc:docMkLst>
        <pc:docMk/>
      </pc:docMkLst>
      <pc:sldChg chg="modSp mod">
        <pc:chgData name="Jin Jin3 Luo" userId="518349b1-ca87-48f7-a3dd-77ed30ef1591" providerId="ADAL" clId="{304B886B-E1A8-5A0F-B2D9-AE841DCD749C}" dt="2026-01-08T06:53:52.684" v="13" actId="20577"/>
        <pc:sldMkLst>
          <pc:docMk/>
          <pc:sldMk cId="3875504769" sldId="2147483643"/>
        </pc:sldMkLst>
        <pc:graphicFrameChg chg="mod modGraphic">
          <ac:chgData name="Jin Jin3 Luo" userId="518349b1-ca87-48f7-a3dd-77ed30ef1591" providerId="ADAL" clId="{304B886B-E1A8-5A0F-B2D9-AE841DCD749C}" dt="2026-01-08T06:53:52.684" v="13" actId="20577"/>
          <ac:graphicFrameMkLst>
            <pc:docMk/>
            <pc:sldMk cId="3875504769" sldId="2147483643"/>
            <ac:graphicFrameMk id="8" creationId="{06244E67-12C7-A07A-7C85-E35D41A450F2}"/>
          </ac:graphicFrameMkLst>
        </pc:graphicFrameChg>
      </pc:sldChg>
    </pc:docChg>
  </pc:docChgLst>
  <pc:docChgLst>
    <pc:chgData name="Tuo Tuo1 Guo" userId="bf05ad49-6379-477c-958c-5366201f7939" providerId="ADAL" clId="{7D1DF904-3C14-47B4-A9EA-0F13A3B2055D}"/>
    <pc:docChg chg="undo custSel modSld sldOrd">
      <pc:chgData name="Tuo Tuo1 Guo" userId="bf05ad49-6379-477c-958c-5366201f7939" providerId="ADAL" clId="{7D1DF904-3C14-47B4-A9EA-0F13A3B2055D}" dt="2026-02-02T09:55:35.472" v="88"/>
      <pc:docMkLst>
        <pc:docMk/>
      </pc:docMkLst>
      <pc:sldChg chg="ord">
        <pc:chgData name="Tuo Tuo1 Guo" userId="bf05ad49-6379-477c-958c-5366201f7939" providerId="ADAL" clId="{7D1DF904-3C14-47B4-A9EA-0F13A3B2055D}" dt="2026-02-02T09:55:35.472" v="88"/>
        <pc:sldMkLst>
          <pc:docMk/>
          <pc:sldMk cId="3700870658" sldId="26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en-CN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Target</a:t>
            </a:r>
            <a:endParaRPr lang="zh-CN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5.9004150481365689E-2"/>
          <c:y val="0.19751075737425799"/>
          <c:w val="0.91518926919163535"/>
          <c:h val="0.56935720670353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Sheet4!$E$1</c:f>
              <c:strCache>
                <c:ptCount val="1"/>
                <c:pt idx="0">
                  <c:v>Categroy A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557329770781415E-2"/>
                  <c:y val="-7.906396237202786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5534039193489864E-2"/>
                      <c:h val="4.320129610113812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564A-2C46-8545-CA0106D08C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Sheet4!$D$2:$D$9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F</c:v>
                </c:pt>
                <c:pt idx="5">
                  <c:v>G</c:v>
                </c:pt>
                <c:pt idx="6">
                  <c:v>H</c:v>
                </c:pt>
                <c:pt idx="7">
                  <c:v>A</c:v>
                </c:pt>
              </c:strCache>
            </c:strRef>
          </c:cat>
          <c:val>
            <c:numRef>
              <c:f>Sheet4!$E$2:$E$9</c:f>
              <c:numCache>
                <c:formatCode>0</c:formatCode>
                <c:ptCount val="8"/>
                <c:pt idx="0">
                  <c:v>1516.8</c:v>
                </c:pt>
                <c:pt idx="1">
                  <c:v>808.8</c:v>
                </c:pt>
                <c:pt idx="2">
                  <c:v>655.19999999999993</c:v>
                </c:pt>
                <c:pt idx="3">
                  <c:v>254.39999999999998</c:v>
                </c:pt>
                <c:pt idx="4">
                  <c:v>0</c:v>
                </c:pt>
                <c:pt idx="5">
                  <c:v>0</c:v>
                </c:pt>
                <c:pt idx="6">
                  <c:v>98.399999999999991</c:v>
                </c:pt>
                <c:pt idx="7">
                  <c:v>32.4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4A-2C46-8545-CA0106D08C3A}"/>
            </c:ext>
          </c:extLst>
        </c:ser>
        <c:ser>
          <c:idx val="1"/>
          <c:order val="1"/>
          <c:tx>
            <c:strRef>
              <c:f>Sheet4!$F$1</c:f>
              <c:strCache>
                <c:ptCount val="1"/>
                <c:pt idx="0">
                  <c:v>Category B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64A-2C46-8545-CA0106D08C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Sheet4!$D$2:$D$9</c:f>
              <c:strCache>
                <c:ptCount val="8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F</c:v>
                </c:pt>
                <c:pt idx="5">
                  <c:v>G</c:v>
                </c:pt>
                <c:pt idx="6">
                  <c:v>H</c:v>
                </c:pt>
                <c:pt idx="7">
                  <c:v>A</c:v>
                </c:pt>
              </c:strCache>
            </c:strRef>
          </c:cat>
          <c:val>
            <c:numRef>
              <c:f>Sheet4!$F$2:$F$9</c:f>
              <c:numCache>
                <c:formatCode>General</c:formatCode>
                <c:ptCount val="8"/>
                <c:pt idx="0">
                  <c:v>3840</c:v>
                </c:pt>
                <c:pt idx="1">
                  <c:v>1200</c:v>
                </c:pt>
                <c:pt idx="2">
                  <c:v>840</c:v>
                </c:pt>
                <c:pt idx="3">
                  <c:v>720</c:v>
                </c:pt>
                <c:pt idx="4">
                  <c:v>720</c:v>
                </c:pt>
                <c:pt idx="5">
                  <c:v>720</c:v>
                </c:pt>
                <c:pt idx="6">
                  <c:v>600</c:v>
                </c:pt>
                <c:pt idx="7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64A-2C46-8545-CA0106D08C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254343728"/>
        <c:axId val="1254346608"/>
      </c:barChart>
      <c:catAx>
        <c:axId val="1254343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254346608"/>
        <c:crosses val="autoZero"/>
        <c:auto val="1"/>
        <c:lblAlgn val="ctr"/>
        <c:lblOffset val="100"/>
        <c:noMultiLvlLbl val="0"/>
      </c:catAx>
      <c:valAx>
        <c:axId val="1254346608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1254343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200" b="1" dirty="0"/>
              <a:t>Target</a:t>
            </a:r>
            <a:r>
              <a:rPr lang="zh-CN" altLang="en-US" sz="1200" b="1" dirty="0"/>
              <a:t>  </a:t>
            </a:r>
            <a:r>
              <a:rPr lang="en-US" altLang="zh-CN" sz="1200" b="1" dirty="0"/>
              <a:t>VS</a:t>
            </a:r>
            <a:endParaRPr lang="en-US" sz="1200" b="1" dirty="0"/>
          </a:p>
        </c:rich>
      </c:tx>
      <c:layout>
        <c:manualLayout>
          <c:xMode val="edge"/>
          <c:yMode val="edge"/>
          <c:x val="0.1839646592362397"/>
          <c:y val="2.17889326437671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758912752497904E-2"/>
          <c:y val="0.15775532480870127"/>
          <c:w val="0.84482174495004192"/>
          <c:h val="0.747892573420224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FY2425</c:v>
                </c:pt>
                <c:pt idx="1">
                  <c:v>FY2526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7D-1943-BE45-70B480F18B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B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FY2425</c:v>
                </c:pt>
                <c:pt idx="1">
                  <c:v>FY2526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5000</c:v>
                </c:pt>
                <c:pt idx="1">
                  <c:v>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7D-1943-BE45-70B480F18BD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4"/>
        <c:overlap val="100"/>
        <c:axId val="126414624"/>
        <c:axId val="133592256"/>
      </c:barChart>
      <c:catAx>
        <c:axId val="126414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133592256"/>
        <c:crosses val="autoZero"/>
        <c:auto val="1"/>
        <c:lblAlgn val="ctr"/>
        <c:lblOffset val="100"/>
        <c:noMultiLvlLbl val="0"/>
      </c:catAx>
      <c:valAx>
        <c:axId val="1335922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641462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13685031752406343"/>
          <c:y val="0.11699112732114018"/>
          <c:w val="0.8631496824759366"/>
          <c:h val="4.964616881202278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2/28/26</a:t>
            </a:fld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2/28/26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1069E-781A-3FCB-9734-F155FB28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C0510-9914-8545-FC90-3C8BC952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C812D-6B84-C028-61CE-77077DA4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ACCED-C1C8-E69A-3901-5850E4941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30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7113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20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6" r:id="rId1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2" userDrawn="1">
          <p15:clr>
            <a:srgbClr val="F26B43"/>
          </p15:clr>
        </p15:guide>
        <p15:guide id="2" orient="horz" pos="4160" userDrawn="1">
          <p15:clr>
            <a:srgbClr val="F26B43"/>
          </p15:clr>
        </p15:guide>
        <p15:guide id="3" pos="472" userDrawn="1">
          <p15:clr>
            <a:srgbClr val="F26B43"/>
          </p15:clr>
        </p15:guide>
        <p15:guide id="4" pos="7198" userDrawn="1">
          <p15:clr>
            <a:srgbClr val="F26B43"/>
          </p15:clr>
        </p15:guide>
        <p15:guide id="5" orient="horz" pos="552" userDrawn="1">
          <p15:clr>
            <a:srgbClr val="F26B43"/>
          </p15:clr>
        </p15:guide>
        <p15:guide id="6" orient="horz" pos="592" userDrawn="1">
          <p15:clr>
            <a:srgbClr val="F26B43"/>
          </p15:clr>
        </p15:guide>
        <p15:guide id="7" orient="horz" pos="399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0DE77-BCAC-475C-B39E-014DE9158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reeform 150">
            <a:extLst>
              <a:ext uri="{FF2B5EF4-FFF2-40B4-BE49-F238E27FC236}">
                <a16:creationId xmlns:a16="http://schemas.microsoft.com/office/drawing/2014/main" id="{EAB4B226-EF3D-4572-A9F6-EF1F7DE61BEE}"/>
              </a:ext>
            </a:extLst>
          </p:cNvPr>
          <p:cNvSpPr/>
          <p:nvPr/>
        </p:nvSpPr>
        <p:spPr>
          <a:xfrm rot="20815302">
            <a:off x="380432" y="1301001"/>
            <a:ext cx="7933769" cy="5470358"/>
          </a:xfrm>
          <a:custGeom>
            <a:avLst/>
            <a:gdLst>
              <a:gd name="connsiteX0" fmla="*/ 975954 w 7933769"/>
              <a:gd name="connsiteY0" fmla="*/ 1955 h 5470358"/>
              <a:gd name="connsiteX1" fmla="*/ 7875927 w 7933769"/>
              <a:gd name="connsiteY1" fmla="*/ 1604875 h 5470358"/>
              <a:gd name="connsiteX2" fmla="*/ 7931814 w 7933769"/>
              <a:gd name="connsiteY2" fmla="*/ 1694585 h 5470358"/>
              <a:gd name="connsiteX3" fmla="*/ 7054671 w 7933769"/>
              <a:gd name="connsiteY3" fmla="*/ 5470358 h 5470358"/>
              <a:gd name="connsiteX4" fmla="*/ 6584818 w 7933769"/>
              <a:gd name="connsiteY4" fmla="*/ 5470358 h 5470358"/>
              <a:gd name="connsiteX5" fmla="*/ 57841 w 7933769"/>
              <a:gd name="connsiteY5" fmla="*/ 3954089 h 5470358"/>
              <a:gd name="connsiteX6" fmla="*/ 1955 w 7933769"/>
              <a:gd name="connsiteY6" fmla="*/ 3864379 h 5470358"/>
              <a:gd name="connsiteX7" fmla="*/ 886244 w 7933769"/>
              <a:gd name="connsiteY7" fmla="*/ 57842 h 5470358"/>
              <a:gd name="connsiteX8" fmla="*/ 975954 w 7933769"/>
              <a:gd name="connsiteY8" fmla="*/ 1955 h 547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33769" h="5470358">
                <a:moveTo>
                  <a:pt x="975954" y="1955"/>
                </a:moveTo>
                <a:lnTo>
                  <a:pt x="7875927" y="1604875"/>
                </a:lnTo>
                <a:cubicBezTo>
                  <a:pt x="7916132" y="1614215"/>
                  <a:pt x="7941154" y="1654379"/>
                  <a:pt x="7931814" y="1694585"/>
                </a:cubicBezTo>
                <a:lnTo>
                  <a:pt x="7054671" y="5470358"/>
                </a:lnTo>
                <a:lnTo>
                  <a:pt x="6584818" y="5470358"/>
                </a:lnTo>
                <a:lnTo>
                  <a:pt x="57841" y="3954089"/>
                </a:lnTo>
                <a:cubicBezTo>
                  <a:pt x="17636" y="3944749"/>
                  <a:pt x="-7386" y="3904584"/>
                  <a:pt x="1955" y="3864379"/>
                </a:cubicBezTo>
                <a:lnTo>
                  <a:pt x="886244" y="57842"/>
                </a:lnTo>
                <a:cubicBezTo>
                  <a:pt x="895584" y="17637"/>
                  <a:pt x="935749" y="-7385"/>
                  <a:pt x="975954" y="1955"/>
                </a:cubicBezTo>
                <a:close/>
              </a:path>
            </a:pathLst>
          </a:custGeom>
          <a:solidFill>
            <a:srgbClr val="F0F2FC">
              <a:alpha val="8038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>
            <a:noAutofit/>
          </a:bodyPr>
          <a:lstStyle/>
          <a:p>
            <a:pPr algn="l"/>
            <a:endParaRPr lang="en-CN" sz="1200">
              <a:solidFill>
                <a:prstClr val="white"/>
              </a:solidFill>
            </a:endParaRPr>
          </a:p>
        </p:txBody>
      </p:sp>
      <p:sp>
        <p:nvSpPr>
          <p:cNvPr id="103" name="Title 1">
            <a:extLst>
              <a:ext uri="{FF2B5EF4-FFF2-40B4-BE49-F238E27FC236}">
                <a16:creationId xmlns:a16="http://schemas.microsoft.com/office/drawing/2014/main" id="{52DBF27E-AD0F-B154-A13E-4D1DC666C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443306"/>
            <a:ext cx="10665223" cy="418467"/>
          </a:xfrm>
        </p:spPr>
        <p:txBody>
          <a:bodyPr/>
          <a:lstStyle/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endParaRPr lang="en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45BF77-0163-FD60-53AE-555A119F7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12188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pPr marL="0" marR="0" lvl="0" indent="0" algn="ctr" defTabSz="12188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grpSp>
        <p:nvGrpSpPr>
          <p:cNvPr id="41" name="组合 2">
            <a:extLst>
              <a:ext uri="{FF2B5EF4-FFF2-40B4-BE49-F238E27FC236}">
                <a16:creationId xmlns:a16="http://schemas.microsoft.com/office/drawing/2014/main" id="{4314C204-4317-2FF3-06E8-96DDA9DD61FA}"/>
              </a:ext>
            </a:extLst>
          </p:cNvPr>
          <p:cNvGrpSpPr/>
          <p:nvPr/>
        </p:nvGrpSpPr>
        <p:grpSpPr>
          <a:xfrm>
            <a:off x="723771" y="1021783"/>
            <a:ext cx="10718035" cy="826390"/>
            <a:chOff x="761435" y="1009732"/>
            <a:chExt cx="11258111" cy="1061956"/>
          </a:xfrm>
        </p:grpSpPr>
        <p:sp>
          <p:nvSpPr>
            <p:cNvPr id="42" name="Rectangle 35">
              <a:extLst>
                <a:ext uri="{FF2B5EF4-FFF2-40B4-BE49-F238E27FC236}">
                  <a16:creationId xmlns:a16="http://schemas.microsoft.com/office/drawing/2014/main" id="{D08F782C-E5BC-3DD6-6DB8-04C03774C8F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06634" y="1009732"/>
              <a:ext cx="10312912" cy="10619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lIns="359906" tIns="71981" rIns="71981" bIns="71981" anchor="ctr" anchorCtr="0"/>
            <a:lstStyle>
              <a:lvl1pPr marL="179388" indent="-179388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 defTabSz="1218199">
                <a:tabLst>
                  <a:tab pos="7985904" algn="l"/>
                </a:tabLst>
                <a:defRPr/>
              </a:pPr>
              <a:r>
                <a:rPr lang="en-US" altLang="zh-CN" sz="1400" b="1" dirty="0"/>
                <a:t>This</a:t>
              </a:r>
              <a:r>
                <a:rPr lang="zh-CN" altLang="en-US" sz="1400" b="1" dirty="0"/>
                <a:t> </a:t>
              </a:r>
              <a:r>
                <a:rPr lang="en-US" altLang="zh-CN" sz="1400" b="1" dirty="0"/>
                <a:t>is</a:t>
              </a:r>
              <a:r>
                <a:rPr lang="zh-CN" altLang="en-US" sz="1400" b="1" dirty="0"/>
                <a:t> </a:t>
              </a:r>
              <a:r>
                <a:rPr lang="en-US" altLang="zh-CN" sz="1400" b="1" dirty="0"/>
                <a:t>key</a:t>
              </a:r>
              <a:r>
                <a:rPr lang="zh-CN" altLang="en-US" sz="1400" b="1" dirty="0"/>
                <a:t> </a:t>
              </a:r>
              <a:r>
                <a:rPr lang="en-US" altLang="zh-CN" sz="1400" b="1" dirty="0"/>
                <a:t>message</a:t>
              </a:r>
              <a:r>
                <a:rPr lang="zh-CN" altLang="en-US" sz="1400" b="1" dirty="0"/>
                <a:t>，</a:t>
              </a:r>
              <a:r>
                <a:rPr lang="en-US" altLang="zh-CN" sz="1400" b="1" dirty="0"/>
                <a:t> This</a:t>
              </a:r>
              <a:r>
                <a:rPr lang="zh-CN" altLang="en-US" sz="1400" b="1" dirty="0"/>
                <a:t> </a:t>
              </a:r>
              <a:r>
                <a:rPr lang="en-US" altLang="zh-CN" sz="1400" b="1" dirty="0"/>
                <a:t>is</a:t>
              </a:r>
              <a:r>
                <a:rPr lang="zh-CN" altLang="en-US" sz="1400" b="1" dirty="0"/>
                <a:t> </a:t>
              </a:r>
              <a:r>
                <a:rPr lang="en-US" altLang="zh-CN" sz="1400" b="1" dirty="0"/>
                <a:t>key</a:t>
              </a:r>
              <a:r>
                <a:rPr lang="zh-CN" altLang="en-US" sz="1400" b="1" dirty="0"/>
                <a:t> </a:t>
              </a:r>
              <a:r>
                <a:rPr lang="en-US" altLang="zh-CN" sz="1400" b="1" dirty="0"/>
                <a:t>message</a:t>
              </a:r>
              <a:r>
                <a:rPr lang="zh-CN" altLang="en-US" sz="1400" b="1" dirty="0"/>
                <a:t>，</a:t>
              </a:r>
              <a:r>
                <a:rPr lang="en-US" altLang="zh-CN" sz="1400" b="1" dirty="0"/>
                <a:t> This</a:t>
              </a:r>
              <a:r>
                <a:rPr lang="zh-CN" altLang="en-US" sz="1400" b="1" dirty="0"/>
                <a:t> </a:t>
              </a:r>
              <a:r>
                <a:rPr lang="en-US" altLang="zh-CN" sz="1400" b="1" dirty="0"/>
                <a:t>is</a:t>
              </a:r>
              <a:r>
                <a:rPr lang="zh-CN" altLang="en-US" sz="1400" b="1" dirty="0"/>
                <a:t> </a:t>
              </a:r>
              <a:r>
                <a:rPr lang="en-US" altLang="zh-CN" sz="1400" b="1" dirty="0"/>
                <a:t>key</a:t>
              </a:r>
              <a:r>
                <a:rPr lang="zh-CN" altLang="en-US" sz="1400" b="1" dirty="0"/>
                <a:t> </a:t>
              </a:r>
              <a:r>
                <a:rPr lang="en-US" altLang="zh-CN" sz="1400" b="1" dirty="0"/>
                <a:t>message</a:t>
              </a:r>
              <a:r>
                <a:rPr lang="zh-CN" altLang="en-US" sz="1400" b="1" dirty="0"/>
                <a:t>。这里是关键信息，这里是关键信息，这里是关键信息。</a:t>
              </a:r>
            </a:p>
          </p:txBody>
        </p:sp>
        <p:sp>
          <p:nvSpPr>
            <p:cNvPr id="43" name="五边形 7">
              <a:extLst>
                <a:ext uri="{FF2B5EF4-FFF2-40B4-BE49-F238E27FC236}">
                  <a16:creationId xmlns:a16="http://schemas.microsoft.com/office/drawing/2014/main" id="{D28B2BF5-7F0E-2356-36C5-70427D1C0912}"/>
                </a:ext>
              </a:extLst>
            </p:cNvPr>
            <p:cNvSpPr/>
            <p:nvPr/>
          </p:nvSpPr>
          <p:spPr>
            <a:xfrm>
              <a:off x="761435" y="1009732"/>
              <a:ext cx="1134125" cy="1061956"/>
            </a:xfrm>
            <a:prstGeom prst="homePlate">
              <a:avLst>
                <a:gd name="adj" fmla="val 25000"/>
              </a:avLst>
            </a:prstGeom>
            <a:solidFill>
              <a:srgbClr val="3B51D3"/>
            </a:solidFill>
            <a:ln>
              <a:noFill/>
            </a:ln>
            <a:effectLst/>
          </p:spPr>
          <p:txBody>
            <a:bodyPr lIns="98703" tIns="49352" rIns="98703" bIns="49352" rtlCol="0" anchor="ctr"/>
            <a:lstStyle/>
            <a:p>
              <a:pPr marL="0" marR="0" lvl="0" indent="0" algn="ctr" defTabSz="12182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Key Message</a:t>
              </a:r>
              <a:endParaRPr kumimoji="0" lang="zh-CN" alt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85" name="Freeform 84">
            <a:extLst>
              <a:ext uri="{FF2B5EF4-FFF2-40B4-BE49-F238E27FC236}">
                <a16:creationId xmlns:a16="http://schemas.microsoft.com/office/drawing/2014/main" id="{77741D1A-C944-E4E2-DE04-1ACE8BB352E5}"/>
              </a:ext>
            </a:extLst>
          </p:cNvPr>
          <p:cNvSpPr/>
          <p:nvPr/>
        </p:nvSpPr>
        <p:spPr>
          <a:xfrm>
            <a:off x="5165959" y="1803085"/>
            <a:ext cx="5615885" cy="4451271"/>
          </a:xfrm>
          <a:custGeom>
            <a:avLst/>
            <a:gdLst>
              <a:gd name="connsiteX0" fmla="*/ 0 w 4880758"/>
              <a:gd name="connsiteY0" fmla="*/ 3930732 h 3930732"/>
              <a:gd name="connsiteX1" fmla="*/ 3301340 w 4880758"/>
              <a:gd name="connsiteY1" fmla="*/ 3265714 h 3930732"/>
              <a:gd name="connsiteX2" fmla="*/ 4880758 w 4880758"/>
              <a:gd name="connsiteY2" fmla="*/ 0 h 393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80758" h="3930732">
                <a:moveTo>
                  <a:pt x="0" y="3930732"/>
                </a:moveTo>
                <a:cubicBezTo>
                  <a:pt x="1243940" y="3925784"/>
                  <a:pt x="2487880" y="3920836"/>
                  <a:pt x="3301340" y="3265714"/>
                </a:cubicBezTo>
                <a:cubicBezTo>
                  <a:pt x="4114800" y="2610592"/>
                  <a:pt x="4497779" y="1305296"/>
                  <a:pt x="4880758" y="0"/>
                </a:cubicBezTo>
              </a:path>
            </a:pathLst>
          </a:custGeom>
          <a:noFill/>
          <a:ln>
            <a:tailEnd type="triangle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aphicFrame>
        <p:nvGraphicFramePr>
          <p:cNvPr id="86" name="图表 3">
            <a:extLst>
              <a:ext uri="{FF2B5EF4-FFF2-40B4-BE49-F238E27FC236}">
                <a16:creationId xmlns:a16="http://schemas.microsoft.com/office/drawing/2014/main" id="{47D8DC9E-7695-611D-0B41-FB4EDC070C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764202"/>
              </p:ext>
            </p:extLst>
          </p:nvPr>
        </p:nvGraphicFramePr>
        <p:xfrm>
          <a:off x="3243577" y="2070994"/>
          <a:ext cx="4718268" cy="4137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8" name="任意多边形: 形状 6">
            <a:extLst>
              <a:ext uri="{FF2B5EF4-FFF2-40B4-BE49-F238E27FC236}">
                <a16:creationId xmlns:a16="http://schemas.microsoft.com/office/drawing/2014/main" id="{05C7357E-0A70-13C6-EAE3-85DF1A5CBCE1}"/>
              </a:ext>
            </a:extLst>
          </p:cNvPr>
          <p:cNvSpPr/>
          <p:nvPr/>
        </p:nvSpPr>
        <p:spPr>
          <a:xfrm rot="232447">
            <a:off x="1336361" y="3409181"/>
            <a:ext cx="533785" cy="867436"/>
          </a:xfrm>
          <a:custGeom>
            <a:avLst/>
            <a:gdLst>
              <a:gd name="connsiteX0" fmla="*/ 0 w 1009816"/>
              <a:gd name="connsiteY0" fmla="*/ 795131 h 795131"/>
              <a:gd name="connsiteX1" fmla="*/ 548640 w 1009816"/>
              <a:gd name="connsiteY1" fmla="*/ 596348 h 795131"/>
              <a:gd name="connsiteX2" fmla="*/ 1009816 w 1009816"/>
              <a:gd name="connsiteY2" fmla="*/ 0 h 79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9816" h="795131">
                <a:moveTo>
                  <a:pt x="0" y="795131"/>
                </a:moveTo>
                <a:cubicBezTo>
                  <a:pt x="190168" y="762000"/>
                  <a:pt x="380337" y="728870"/>
                  <a:pt x="548640" y="596348"/>
                </a:cubicBezTo>
                <a:cubicBezTo>
                  <a:pt x="716943" y="463826"/>
                  <a:pt x="863379" y="231913"/>
                  <a:pt x="1009816" y="0"/>
                </a:cubicBezTo>
              </a:path>
            </a:pathLst>
          </a:custGeom>
          <a:noFill/>
          <a:ln w="15875"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41000">
                  <a:schemeClr val="accent6">
                    <a:lumMod val="60000"/>
                    <a:lumOff val="40000"/>
                  </a:schemeClr>
                </a:gs>
                <a:gs pos="87000">
                  <a:schemeClr val="accent6">
                    <a:lumMod val="75000"/>
                  </a:schemeClr>
                </a:gs>
              </a:gsLst>
              <a:lin ang="0" scaled="1"/>
              <a:tileRect/>
            </a:gra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E2192D0-476D-53E6-5E3A-21A80A5ABE58}"/>
              </a:ext>
            </a:extLst>
          </p:cNvPr>
          <p:cNvCxnSpPr>
            <a:cxnSpLocks/>
          </p:cNvCxnSpPr>
          <p:nvPr/>
        </p:nvCxnSpPr>
        <p:spPr>
          <a:xfrm>
            <a:off x="741551" y="6254362"/>
            <a:ext cx="10830431" cy="0"/>
          </a:xfrm>
          <a:prstGeom prst="line">
            <a:avLst/>
          </a:prstGeom>
          <a:ln w="25400">
            <a:tailEnd type="triangle" w="lg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9F5E20F-A84D-8301-9B2D-75BD7C00CEF1}"/>
              </a:ext>
            </a:extLst>
          </p:cNvPr>
          <p:cNvSpPr txBox="1"/>
          <p:nvPr/>
        </p:nvSpPr>
        <p:spPr>
          <a:xfrm>
            <a:off x="11016290" y="6355336"/>
            <a:ext cx="572977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</a:t>
            </a:r>
            <a:endParaRPr lang="en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" name="Triangle 91">
            <a:extLst>
              <a:ext uri="{FF2B5EF4-FFF2-40B4-BE49-F238E27FC236}">
                <a16:creationId xmlns:a16="http://schemas.microsoft.com/office/drawing/2014/main" id="{78C5F9AD-7179-9041-108B-119569CDB6ED}"/>
              </a:ext>
            </a:extLst>
          </p:cNvPr>
          <p:cNvSpPr>
            <a:spLocks noChangeAspect="1"/>
          </p:cNvSpPr>
          <p:nvPr/>
        </p:nvSpPr>
        <p:spPr>
          <a:xfrm rot="2637150">
            <a:off x="9200357" y="5155648"/>
            <a:ext cx="140645" cy="108000"/>
          </a:xfrm>
          <a:prstGeom prst="triangl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CN" sz="1200">
              <a:solidFill>
                <a:prstClr val="white"/>
              </a:solidFill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74E82A5-216A-EEA3-3C67-537C4A1AA180}"/>
              </a:ext>
            </a:extLst>
          </p:cNvPr>
          <p:cNvGrpSpPr/>
          <p:nvPr/>
        </p:nvGrpSpPr>
        <p:grpSpPr>
          <a:xfrm>
            <a:off x="3252559" y="2053273"/>
            <a:ext cx="123479" cy="4059749"/>
            <a:chOff x="2612688" y="1821429"/>
            <a:chExt cx="123479" cy="4059749"/>
          </a:xfrm>
          <a:solidFill>
            <a:schemeClr val="bg1">
              <a:lumMod val="85000"/>
            </a:schemeClr>
          </a:solidFill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8F55A2A-1C75-BD88-C42C-217E55817836}"/>
                </a:ext>
              </a:extLst>
            </p:cNvPr>
            <p:cNvCxnSpPr>
              <a:cxnSpLocks/>
              <a:endCxn id="95" idx="0"/>
            </p:cNvCxnSpPr>
            <p:nvPr/>
          </p:nvCxnSpPr>
          <p:spPr>
            <a:xfrm>
              <a:off x="2619696" y="1821429"/>
              <a:ext cx="0" cy="1011760"/>
            </a:xfrm>
            <a:prstGeom prst="line">
              <a:avLst/>
            </a:prstGeom>
            <a:grpFill/>
            <a:ln w="12700">
              <a:solidFill>
                <a:schemeClr val="accent6">
                  <a:lumMod val="40000"/>
                  <a:lumOff val="60000"/>
                </a:schemeClr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Notched Right Arrow 94">
              <a:extLst>
                <a:ext uri="{FF2B5EF4-FFF2-40B4-BE49-F238E27FC236}">
                  <a16:creationId xmlns:a16="http://schemas.microsoft.com/office/drawing/2014/main" id="{D3538B1E-BF15-67C4-6794-21A95964DBF1}"/>
                </a:ext>
              </a:extLst>
            </p:cNvPr>
            <p:cNvSpPr/>
            <p:nvPr/>
          </p:nvSpPr>
          <p:spPr>
            <a:xfrm>
              <a:off x="2619696" y="2833189"/>
              <a:ext cx="116471" cy="360000"/>
            </a:xfrm>
            <a:prstGeom prst="notchedRightArrow">
              <a:avLst>
                <a:gd name="adj1" fmla="val 50000"/>
                <a:gd name="adj2" fmla="val 10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l"/>
              <a:endParaRPr lang="en-CN" sz="1200">
                <a:solidFill>
                  <a:prstClr val="white"/>
                </a:solidFill>
              </a:endParaRPr>
            </a:p>
          </p:txBody>
        </p:sp>
        <p:sp>
          <p:nvSpPr>
            <p:cNvPr id="96" name="Notched Right Arrow 95">
              <a:extLst>
                <a:ext uri="{FF2B5EF4-FFF2-40B4-BE49-F238E27FC236}">
                  <a16:creationId xmlns:a16="http://schemas.microsoft.com/office/drawing/2014/main" id="{E38752C7-5411-C63B-BB51-A99D1DB9183A}"/>
                </a:ext>
              </a:extLst>
            </p:cNvPr>
            <p:cNvSpPr/>
            <p:nvPr/>
          </p:nvSpPr>
          <p:spPr>
            <a:xfrm>
              <a:off x="2624523" y="4613669"/>
              <a:ext cx="111644" cy="360000"/>
            </a:xfrm>
            <a:prstGeom prst="notchedRightArrow">
              <a:avLst>
                <a:gd name="adj1" fmla="val 50000"/>
                <a:gd name="adj2" fmla="val 10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l"/>
              <a:endParaRPr lang="en-CN" sz="1200">
                <a:solidFill>
                  <a:prstClr val="white"/>
                </a:solidFill>
              </a:endParaRP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DC7CAF4-F967-C240-C8BD-9AA29ED25AD8}"/>
                </a:ext>
              </a:extLst>
            </p:cNvPr>
            <p:cNvCxnSpPr>
              <a:cxnSpLocks/>
              <a:stCxn id="95" idx="2"/>
            </p:cNvCxnSpPr>
            <p:nvPr/>
          </p:nvCxnSpPr>
          <p:spPr>
            <a:xfrm flipH="1">
              <a:off x="2612688" y="3193189"/>
              <a:ext cx="7008" cy="1420480"/>
            </a:xfrm>
            <a:prstGeom prst="line">
              <a:avLst/>
            </a:prstGeom>
            <a:grpFill/>
            <a:ln w="12700">
              <a:solidFill>
                <a:schemeClr val="accent6">
                  <a:lumMod val="40000"/>
                  <a:lumOff val="60000"/>
                </a:schemeClr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78856FC-E65A-AC82-1607-31E37BA9768B}"/>
                </a:ext>
              </a:extLst>
            </p:cNvPr>
            <p:cNvCxnSpPr>
              <a:cxnSpLocks/>
              <a:stCxn id="96" idx="2"/>
            </p:cNvCxnSpPr>
            <p:nvPr/>
          </p:nvCxnSpPr>
          <p:spPr>
            <a:xfrm>
              <a:off x="2624523" y="4973669"/>
              <a:ext cx="0" cy="907509"/>
            </a:xfrm>
            <a:prstGeom prst="line">
              <a:avLst/>
            </a:prstGeom>
            <a:grpFill/>
            <a:ln w="12700">
              <a:solidFill>
                <a:schemeClr val="accent6">
                  <a:lumMod val="40000"/>
                  <a:lumOff val="60000"/>
                </a:schemeClr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B18A6F4-D356-74E1-61A7-95C6AD98A6B7}"/>
              </a:ext>
            </a:extLst>
          </p:cNvPr>
          <p:cNvGrpSpPr/>
          <p:nvPr/>
        </p:nvGrpSpPr>
        <p:grpSpPr>
          <a:xfrm>
            <a:off x="7952961" y="3071965"/>
            <a:ext cx="116471" cy="2140480"/>
            <a:chOff x="2602278" y="2833189"/>
            <a:chExt cx="116471" cy="2140480"/>
          </a:xfrm>
          <a:solidFill>
            <a:schemeClr val="bg1">
              <a:lumMod val="85000"/>
            </a:schemeClr>
          </a:solidFill>
        </p:grpSpPr>
        <p:sp>
          <p:nvSpPr>
            <p:cNvPr id="100" name="Notched Right Arrow 99">
              <a:extLst>
                <a:ext uri="{FF2B5EF4-FFF2-40B4-BE49-F238E27FC236}">
                  <a16:creationId xmlns:a16="http://schemas.microsoft.com/office/drawing/2014/main" id="{6D74A9F2-8864-C39D-136E-564EB9A95761}"/>
                </a:ext>
              </a:extLst>
            </p:cNvPr>
            <p:cNvSpPr/>
            <p:nvPr/>
          </p:nvSpPr>
          <p:spPr>
            <a:xfrm>
              <a:off x="2602278" y="2833189"/>
              <a:ext cx="116471" cy="360000"/>
            </a:xfrm>
            <a:prstGeom prst="notchedRightArrow">
              <a:avLst>
                <a:gd name="adj1" fmla="val 50000"/>
                <a:gd name="adj2" fmla="val 10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l"/>
              <a:endParaRPr lang="en-CN" sz="1200">
                <a:solidFill>
                  <a:prstClr val="white"/>
                </a:solidFill>
              </a:endParaRPr>
            </a:p>
          </p:txBody>
        </p:sp>
        <p:sp>
          <p:nvSpPr>
            <p:cNvPr id="101" name="Notched Right Arrow 100">
              <a:extLst>
                <a:ext uri="{FF2B5EF4-FFF2-40B4-BE49-F238E27FC236}">
                  <a16:creationId xmlns:a16="http://schemas.microsoft.com/office/drawing/2014/main" id="{D4476815-FC7B-2D25-F5CD-3FEF8FAC9D04}"/>
                </a:ext>
              </a:extLst>
            </p:cNvPr>
            <p:cNvSpPr/>
            <p:nvPr/>
          </p:nvSpPr>
          <p:spPr>
            <a:xfrm>
              <a:off x="2607105" y="4613669"/>
              <a:ext cx="111644" cy="360000"/>
            </a:xfrm>
            <a:prstGeom prst="notchedRightArrow">
              <a:avLst>
                <a:gd name="adj1" fmla="val 50000"/>
                <a:gd name="adj2" fmla="val 10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l"/>
              <a:endParaRPr lang="en-CN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112D8F2-B1C9-990D-7797-3FCD5F096D69}"/>
              </a:ext>
            </a:extLst>
          </p:cNvPr>
          <p:cNvGrpSpPr/>
          <p:nvPr/>
        </p:nvGrpSpPr>
        <p:grpSpPr>
          <a:xfrm>
            <a:off x="8411077" y="3367290"/>
            <a:ext cx="1885518" cy="564338"/>
            <a:chOff x="8296035" y="3376481"/>
            <a:chExt cx="1885518" cy="564338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5C8E72ED-B318-06FE-E8AE-1F9A53C9B42C}"/>
                </a:ext>
              </a:extLst>
            </p:cNvPr>
            <p:cNvGrpSpPr/>
            <p:nvPr/>
          </p:nvGrpSpPr>
          <p:grpSpPr>
            <a:xfrm>
              <a:off x="8296035" y="3376481"/>
              <a:ext cx="1796213" cy="564338"/>
              <a:chOff x="9645249" y="5362949"/>
              <a:chExt cx="1796213" cy="564338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717F03F8-A6A3-607A-720A-9980EA703190}"/>
                  </a:ext>
                </a:extLst>
              </p:cNvPr>
              <p:cNvCxnSpPr>
                <a:cxnSpLocks/>
                <a:stCxn id="105" idx="3"/>
                <a:endCxn id="108" idx="3"/>
              </p:cNvCxnSpPr>
              <p:nvPr/>
            </p:nvCxnSpPr>
            <p:spPr>
              <a:xfrm flipH="1">
                <a:off x="11231191" y="5579726"/>
                <a:ext cx="210271" cy="65392"/>
              </a:xfrm>
              <a:prstGeom prst="line">
                <a:avLst/>
              </a:prstGeom>
              <a:ln w="6350">
                <a:solidFill>
                  <a:schemeClr val="accent6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FFB400BD-7B31-E5D4-CDE7-A92E2D400A48}"/>
                  </a:ext>
                </a:extLst>
              </p:cNvPr>
              <p:cNvGrpSpPr/>
              <p:nvPr/>
            </p:nvGrpSpPr>
            <p:grpSpPr>
              <a:xfrm>
                <a:off x="9645249" y="5362949"/>
                <a:ext cx="1585942" cy="564338"/>
                <a:chOff x="9833720" y="5037533"/>
                <a:chExt cx="1585942" cy="564338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70ED1ED1-CA3C-5844-4F03-FAF22FD091D5}"/>
                    </a:ext>
                  </a:extLst>
                </p:cNvPr>
                <p:cNvSpPr/>
                <p:nvPr/>
              </p:nvSpPr>
              <p:spPr>
                <a:xfrm>
                  <a:off x="9833720" y="5037533"/>
                  <a:ext cx="1585942" cy="564338"/>
                </a:xfrm>
                <a:prstGeom prst="rect">
                  <a:avLst/>
                </a:prstGeom>
                <a:noFill/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0" tIns="72000" rIns="180000" bIns="182880" rtlCol="0" anchor="t"/>
                <a:lstStyle/>
                <a:p>
                  <a:r>
                    <a:rPr lang="en-US" sz="1200" b="1" err="1">
                      <a:solidFill>
                        <a:schemeClr val="bg2"/>
                      </a:solidFill>
                    </a:rPr>
                    <a:t>易用性</a:t>
                  </a:r>
                  <a:endParaRPr lang="en-CN" sz="120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6D014AA2-060D-5DF1-4A0E-0F75A205541C}"/>
                    </a:ext>
                  </a:extLst>
                </p:cNvPr>
                <p:cNvSpPr txBox="1"/>
                <p:nvPr/>
              </p:nvSpPr>
              <p:spPr>
                <a:xfrm>
                  <a:off x="9894466" y="5405797"/>
                  <a:ext cx="1410643" cy="153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zh-CN" altLang="en-US" sz="1000" dirty="0"/>
                    <a:t>用户体验好、高效率交付</a:t>
                  </a:r>
                  <a:endParaRPr lang="en-CN" sz="1000" dirty="0"/>
                </a:p>
              </p:txBody>
            </p:sp>
          </p:grpSp>
        </p:grpSp>
        <p:sp>
          <p:nvSpPr>
            <p:cNvPr id="105" name="Triangle 104">
              <a:extLst>
                <a:ext uri="{FF2B5EF4-FFF2-40B4-BE49-F238E27FC236}">
                  <a16:creationId xmlns:a16="http://schemas.microsoft.com/office/drawing/2014/main" id="{F5D12626-D9DB-9C2D-7152-D2C61FCB5988}"/>
                </a:ext>
              </a:extLst>
            </p:cNvPr>
            <p:cNvSpPr>
              <a:spLocks noChangeAspect="1"/>
            </p:cNvSpPr>
            <p:nvPr/>
          </p:nvSpPr>
          <p:spPr>
            <a:xfrm rot="1234856">
              <a:off x="10040908" y="3488704"/>
              <a:ext cx="140645" cy="108000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l"/>
              <a:endParaRPr lang="en-CN" sz="1200">
                <a:solidFill>
                  <a:prstClr val="white"/>
                </a:solidFill>
              </a:endParaRPr>
            </a:p>
          </p:txBody>
        </p:sp>
      </p:grpSp>
      <p:sp>
        <p:nvSpPr>
          <p:cNvPr id="110" name="iconfont-11092-5226646">
            <a:extLst>
              <a:ext uri="{FF2B5EF4-FFF2-40B4-BE49-F238E27FC236}">
                <a16:creationId xmlns:a16="http://schemas.microsoft.com/office/drawing/2014/main" id="{79FED699-0F08-1734-83CC-6DF69D79B2EF}"/>
              </a:ext>
            </a:extLst>
          </p:cNvPr>
          <p:cNvSpPr>
            <a:spLocks noChangeAspect="1"/>
          </p:cNvSpPr>
          <p:nvPr/>
        </p:nvSpPr>
        <p:spPr>
          <a:xfrm>
            <a:off x="8466325" y="3420709"/>
            <a:ext cx="216000" cy="216000"/>
          </a:xfrm>
          <a:custGeom>
            <a:avLst/>
            <a:gdLst>
              <a:gd name="T0" fmla="*/ 6244 w 10612"/>
              <a:gd name="T1" fmla="*/ 3613 h 10611"/>
              <a:gd name="T2" fmla="*/ 6244 w 10612"/>
              <a:gd name="T3" fmla="*/ 2234 h 10611"/>
              <a:gd name="T4" fmla="*/ 6400 w 10612"/>
              <a:gd name="T5" fmla="*/ 1857 h 10611"/>
              <a:gd name="T6" fmla="*/ 8000 w 10612"/>
              <a:gd name="T7" fmla="*/ 257 h 10611"/>
              <a:gd name="T8" fmla="*/ 8854 w 10612"/>
              <a:gd name="T9" fmla="*/ 396 h 10611"/>
              <a:gd name="T10" fmla="*/ 9308 w 10612"/>
              <a:gd name="T11" fmla="*/ 1303 h 10611"/>
              <a:gd name="T12" fmla="*/ 10215 w 10612"/>
              <a:gd name="T13" fmla="*/ 1757 h 10611"/>
              <a:gd name="T14" fmla="*/ 10354 w 10612"/>
              <a:gd name="T15" fmla="*/ 2611 h 10611"/>
              <a:gd name="T16" fmla="*/ 8754 w 10612"/>
              <a:gd name="T17" fmla="*/ 4211 h 10611"/>
              <a:gd name="T18" fmla="*/ 8377 w 10612"/>
              <a:gd name="T19" fmla="*/ 4367 h 10611"/>
              <a:gd name="T20" fmla="*/ 6998 w 10612"/>
              <a:gd name="T21" fmla="*/ 4367 h 10611"/>
              <a:gd name="T22" fmla="*/ 5554 w 10612"/>
              <a:gd name="T23" fmla="*/ 5811 h 10611"/>
              <a:gd name="T24" fmla="*/ 4806 w 10612"/>
              <a:gd name="T25" fmla="*/ 5805 h 10611"/>
              <a:gd name="T26" fmla="*/ 4800 w 10612"/>
              <a:gd name="T27" fmla="*/ 5057 h 10611"/>
              <a:gd name="T28" fmla="*/ 6244 w 10612"/>
              <a:gd name="T29" fmla="*/ 3613 h 10611"/>
              <a:gd name="T30" fmla="*/ 5177 w 10612"/>
              <a:gd name="T31" fmla="*/ 634 h 10611"/>
              <a:gd name="T32" fmla="*/ 5710 w 10612"/>
              <a:gd name="T33" fmla="*/ 1167 h 10611"/>
              <a:gd name="T34" fmla="*/ 5177 w 10612"/>
              <a:gd name="T35" fmla="*/ 1701 h 10611"/>
              <a:gd name="T36" fmla="*/ 1728 w 10612"/>
              <a:gd name="T37" fmla="*/ 4005 h 10611"/>
              <a:gd name="T38" fmla="*/ 2537 w 10612"/>
              <a:gd name="T39" fmla="*/ 8074 h 10611"/>
              <a:gd name="T40" fmla="*/ 6606 w 10612"/>
              <a:gd name="T41" fmla="*/ 8883 h 10611"/>
              <a:gd name="T42" fmla="*/ 8910 w 10612"/>
              <a:gd name="T43" fmla="*/ 5434 h 10611"/>
              <a:gd name="T44" fmla="*/ 9444 w 10612"/>
              <a:gd name="T45" fmla="*/ 4901 h 10611"/>
              <a:gd name="T46" fmla="*/ 9977 w 10612"/>
              <a:gd name="T47" fmla="*/ 5434 h 10611"/>
              <a:gd name="T48" fmla="*/ 7014 w 10612"/>
              <a:gd name="T49" fmla="*/ 9869 h 10611"/>
              <a:gd name="T50" fmla="*/ 1783 w 10612"/>
              <a:gd name="T51" fmla="*/ 8828 h 10611"/>
              <a:gd name="T52" fmla="*/ 742 w 10612"/>
              <a:gd name="T53" fmla="*/ 3597 h 10611"/>
              <a:gd name="T54" fmla="*/ 5177 w 10612"/>
              <a:gd name="T55" fmla="*/ 634 h 10611"/>
              <a:gd name="T56" fmla="*/ 5177 w 10612"/>
              <a:gd name="T57" fmla="*/ 2767 h 10611"/>
              <a:gd name="T58" fmla="*/ 5710 w 10612"/>
              <a:gd name="T59" fmla="*/ 3301 h 10611"/>
              <a:gd name="T60" fmla="*/ 5177 w 10612"/>
              <a:gd name="T61" fmla="*/ 3834 h 10611"/>
              <a:gd name="T62" fmla="*/ 3699 w 10612"/>
              <a:gd name="T63" fmla="*/ 4822 h 10611"/>
              <a:gd name="T64" fmla="*/ 4046 w 10612"/>
              <a:gd name="T65" fmla="*/ 6565 h 10611"/>
              <a:gd name="T66" fmla="*/ 5789 w 10612"/>
              <a:gd name="T67" fmla="*/ 6912 h 10611"/>
              <a:gd name="T68" fmla="*/ 6777 w 10612"/>
              <a:gd name="T69" fmla="*/ 5434 h 10611"/>
              <a:gd name="T70" fmla="*/ 7310 w 10612"/>
              <a:gd name="T71" fmla="*/ 4901 h 10611"/>
              <a:gd name="T72" fmla="*/ 7844 w 10612"/>
              <a:gd name="T73" fmla="*/ 5434 h 10611"/>
              <a:gd name="T74" fmla="*/ 6198 w 10612"/>
              <a:gd name="T75" fmla="*/ 7898 h 10611"/>
              <a:gd name="T76" fmla="*/ 3291 w 10612"/>
              <a:gd name="T77" fmla="*/ 7320 h 10611"/>
              <a:gd name="T78" fmla="*/ 2713 w 10612"/>
              <a:gd name="T79" fmla="*/ 4413 h 10611"/>
              <a:gd name="T80" fmla="*/ 5177 w 10612"/>
              <a:gd name="T81" fmla="*/ 2767 h 10611"/>
              <a:gd name="T82" fmla="*/ 7310 w 10612"/>
              <a:gd name="T83" fmla="*/ 2455 h 10611"/>
              <a:gd name="T84" fmla="*/ 7310 w 10612"/>
              <a:gd name="T85" fmla="*/ 3301 h 10611"/>
              <a:gd name="T86" fmla="*/ 8156 w 10612"/>
              <a:gd name="T87" fmla="*/ 3301 h 10611"/>
              <a:gd name="T88" fmla="*/ 9077 w 10612"/>
              <a:gd name="T89" fmla="*/ 2380 h 10611"/>
              <a:gd name="T90" fmla="*/ 8671 w 10612"/>
              <a:gd name="T91" fmla="*/ 2177 h 10611"/>
              <a:gd name="T92" fmla="*/ 8434 w 10612"/>
              <a:gd name="T93" fmla="*/ 1939 h 10611"/>
              <a:gd name="T94" fmla="*/ 8231 w 10612"/>
              <a:gd name="T95" fmla="*/ 1534 h 10611"/>
              <a:gd name="T96" fmla="*/ 7310 w 10612"/>
              <a:gd name="T97" fmla="*/ 2455 h 10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612" h="10611">
                <a:moveTo>
                  <a:pt x="6244" y="3613"/>
                </a:moveTo>
                <a:lnTo>
                  <a:pt x="6244" y="2234"/>
                </a:lnTo>
                <a:cubicBezTo>
                  <a:pt x="6244" y="2093"/>
                  <a:pt x="6300" y="1957"/>
                  <a:pt x="6400" y="1857"/>
                </a:cubicBezTo>
                <a:lnTo>
                  <a:pt x="8000" y="257"/>
                </a:lnTo>
                <a:cubicBezTo>
                  <a:pt x="8257" y="0"/>
                  <a:pt x="8691" y="70"/>
                  <a:pt x="8854" y="396"/>
                </a:cubicBezTo>
                <a:lnTo>
                  <a:pt x="9308" y="1303"/>
                </a:lnTo>
                <a:lnTo>
                  <a:pt x="10215" y="1757"/>
                </a:lnTo>
                <a:cubicBezTo>
                  <a:pt x="10541" y="1919"/>
                  <a:pt x="10612" y="2354"/>
                  <a:pt x="10354" y="2611"/>
                </a:cubicBezTo>
                <a:lnTo>
                  <a:pt x="8754" y="4211"/>
                </a:lnTo>
                <a:cubicBezTo>
                  <a:pt x="8654" y="4311"/>
                  <a:pt x="8518" y="4367"/>
                  <a:pt x="8377" y="4367"/>
                </a:cubicBezTo>
                <a:lnTo>
                  <a:pt x="6998" y="4367"/>
                </a:lnTo>
                <a:lnTo>
                  <a:pt x="5554" y="5811"/>
                </a:lnTo>
                <a:cubicBezTo>
                  <a:pt x="5345" y="6013"/>
                  <a:pt x="5012" y="6010"/>
                  <a:pt x="4806" y="5805"/>
                </a:cubicBezTo>
                <a:cubicBezTo>
                  <a:pt x="4601" y="5599"/>
                  <a:pt x="4598" y="5266"/>
                  <a:pt x="4800" y="5057"/>
                </a:cubicBezTo>
                <a:lnTo>
                  <a:pt x="6244" y="3613"/>
                </a:lnTo>
                <a:close/>
                <a:moveTo>
                  <a:pt x="5177" y="634"/>
                </a:moveTo>
                <a:cubicBezTo>
                  <a:pt x="5472" y="634"/>
                  <a:pt x="5710" y="873"/>
                  <a:pt x="5710" y="1167"/>
                </a:cubicBezTo>
                <a:cubicBezTo>
                  <a:pt x="5710" y="1462"/>
                  <a:pt x="5472" y="1701"/>
                  <a:pt x="5177" y="1701"/>
                </a:cubicBezTo>
                <a:cubicBezTo>
                  <a:pt x="3667" y="1701"/>
                  <a:pt x="2306" y="2610"/>
                  <a:pt x="1728" y="4005"/>
                </a:cubicBezTo>
                <a:cubicBezTo>
                  <a:pt x="1150" y="5400"/>
                  <a:pt x="1470" y="7006"/>
                  <a:pt x="2537" y="8074"/>
                </a:cubicBezTo>
                <a:cubicBezTo>
                  <a:pt x="3605" y="9141"/>
                  <a:pt x="5211" y="9461"/>
                  <a:pt x="6606" y="8883"/>
                </a:cubicBezTo>
                <a:cubicBezTo>
                  <a:pt x="8001" y="8305"/>
                  <a:pt x="8910" y="6944"/>
                  <a:pt x="8910" y="5434"/>
                </a:cubicBezTo>
                <a:cubicBezTo>
                  <a:pt x="8910" y="5139"/>
                  <a:pt x="9149" y="4901"/>
                  <a:pt x="9444" y="4901"/>
                </a:cubicBezTo>
                <a:cubicBezTo>
                  <a:pt x="9738" y="4901"/>
                  <a:pt x="9977" y="5139"/>
                  <a:pt x="9977" y="5434"/>
                </a:cubicBezTo>
                <a:cubicBezTo>
                  <a:pt x="9977" y="7375"/>
                  <a:pt x="8808" y="9126"/>
                  <a:pt x="7014" y="9869"/>
                </a:cubicBezTo>
                <a:cubicBezTo>
                  <a:pt x="5220" y="10611"/>
                  <a:pt x="3156" y="10201"/>
                  <a:pt x="1783" y="8828"/>
                </a:cubicBezTo>
                <a:cubicBezTo>
                  <a:pt x="410" y="7455"/>
                  <a:pt x="0" y="5391"/>
                  <a:pt x="742" y="3597"/>
                </a:cubicBezTo>
                <a:cubicBezTo>
                  <a:pt x="1485" y="1803"/>
                  <a:pt x="3236" y="634"/>
                  <a:pt x="5177" y="634"/>
                </a:cubicBezTo>
                <a:close/>
                <a:moveTo>
                  <a:pt x="5177" y="2767"/>
                </a:moveTo>
                <a:cubicBezTo>
                  <a:pt x="5472" y="2767"/>
                  <a:pt x="5710" y="3006"/>
                  <a:pt x="5710" y="3301"/>
                </a:cubicBezTo>
                <a:cubicBezTo>
                  <a:pt x="5710" y="3595"/>
                  <a:pt x="5472" y="3834"/>
                  <a:pt x="5177" y="3834"/>
                </a:cubicBezTo>
                <a:cubicBezTo>
                  <a:pt x="4530" y="3834"/>
                  <a:pt x="3946" y="4224"/>
                  <a:pt x="3699" y="4822"/>
                </a:cubicBezTo>
                <a:cubicBezTo>
                  <a:pt x="3451" y="5420"/>
                  <a:pt x="3588" y="6108"/>
                  <a:pt x="4046" y="6565"/>
                </a:cubicBezTo>
                <a:cubicBezTo>
                  <a:pt x="4503" y="7023"/>
                  <a:pt x="5191" y="7160"/>
                  <a:pt x="5789" y="6912"/>
                </a:cubicBezTo>
                <a:cubicBezTo>
                  <a:pt x="6387" y="6665"/>
                  <a:pt x="6777" y="6081"/>
                  <a:pt x="6777" y="5434"/>
                </a:cubicBezTo>
                <a:cubicBezTo>
                  <a:pt x="6777" y="5139"/>
                  <a:pt x="7016" y="4901"/>
                  <a:pt x="7310" y="4901"/>
                </a:cubicBezTo>
                <a:cubicBezTo>
                  <a:pt x="7605" y="4901"/>
                  <a:pt x="7844" y="5139"/>
                  <a:pt x="7844" y="5434"/>
                </a:cubicBezTo>
                <a:cubicBezTo>
                  <a:pt x="7844" y="6513"/>
                  <a:pt x="7194" y="7485"/>
                  <a:pt x="6198" y="7898"/>
                </a:cubicBezTo>
                <a:cubicBezTo>
                  <a:pt x="5201" y="8310"/>
                  <a:pt x="4054" y="8082"/>
                  <a:pt x="3291" y="7320"/>
                </a:cubicBezTo>
                <a:cubicBezTo>
                  <a:pt x="2529" y="6557"/>
                  <a:pt x="2301" y="5410"/>
                  <a:pt x="2713" y="4413"/>
                </a:cubicBezTo>
                <a:cubicBezTo>
                  <a:pt x="3126" y="3417"/>
                  <a:pt x="4098" y="2767"/>
                  <a:pt x="5177" y="2767"/>
                </a:cubicBezTo>
                <a:close/>
                <a:moveTo>
                  <a:pt x="7310" y="2455"/>
                </a:moveTo>
                <a:lnTo>
                  <a:pt x="7310" y="3301"/>
                </a:lnTo>
                <a:lnTo>
                  <a:pt x="8156" y="3301"/>
                </a:lnTo>
                <a:lnTo>
                  <a:pt x="9077" y="2380"/>
                </a:lnTo>
                <a:lnTo>
                  <a:pt x="8671" y="2177"/>
                </a:lnTo>
                <a:cubicBezTo>
                  <a:pt x="8568" y="2126"/>
                  <a:pt x="8485" y="2042"/>
                  <a:pt x="8434" y="1939"/>
                </a:cubicBezTo>
                <a:lnTo>
                  <a:pt x="8231" y="1534"/>
                </a:lnTo>
                <a:lnTo>
                  <a:pt x="7310" y="2455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AF3A84D-9CAF-2764-0CFF-D9E25D801095}"/>
              </a:ext>
            </a:extLst>
          </p:cNvPr>
          <p:cNvCxnSpPr>
            <a:cxnSpLocks/>
            <a:stCxn id="112" idx="3"/>
          </p:cNvCxnSpPr>
          <p:nvPr/>
        </p:nvCxnSpPr>
        <p:spPr>
          <a:xfrm>
            <a:off x="10397964" y="3038755"/>
            <a:ext cx="124610" cy="263143"/>
          </a:xfrm>
          <a:prstGeom prst="line">
            <a:avLst/>
          </a:prstGeom>
          <a:ln w="6350">
            <a:solidFill>
              <a:schemeClr val="accent6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riangle 111">
            <a:extLst>
              <a:ext uri="{FF2B5EF4-FFF2-40B4-BE49-F238E27FC236}">
                <a16:creationId xmlns:a16="http://schemas.microsoft.com/office/drawing/2014/main" id="{DA79280E-325D-9A45-C157-CE16CA29F947}"/>
              </a:ext>
            </a:extLst>
          </p:cNvPr>
          <p:cNvSpPr>
            <a:spLocks noChangeAspect="1"/>
          </p:cNvSpPr>
          <p:nvPr/>
        </p:nvSpPr>
        <p:spPr>
          <a:xfrm rot="1190838">
            <a:off x="10345975" y="2933962"/>
            <a:ext cx="140645" cy="108000"/>
          </a:xfrm>
          <a:prstGeom prst="triangl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82880" rIns="182880" bIns="182880" rtlCol="0" anchor="ctr"/>
          <a:lstStyle/>
          <a:p>
            <a:pPr algn="l"/>
            <a:endParaRPr lang="en-CN" sz="1200">
              <a:solidFill>
                <a:prstClr val="white"/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16536FA-3978-898E-8931-CA5197EE26D3}"/>
              </a:ext>
            </a:extLst>
          </p:cNvPr>
          <p:cNvGrpSpPr/>
          <p:nvPr/>
        </p:nvGrpSpPr>
        <p:grpSpPr>
          <a:xfrm>
            <a:off x="10522574" y="3019729"/>
            <a:ext cx="1303366" cy="564338"/>
            <a:chOff x="10558500" y="3119204"/>
            <a:chExt cx="1303366" cy="564338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0824D3B2-8579-DF89-8820-5D7979EB4702}"/>
                </a:ext>
              </a:extLst>
            </p:cNvPr>
            <p:cNvGrpSpPr/>
            <p:nvPr/>
          </p:nvGrpSpPr>
          <p:grpSpPr>
            <a:xfrm>
              <a:off x="10558500" y="3119204"/>
              <a:ext cx="1303366" cy="564338"/>
              <a:chOff x="9671494" y="5027338"/>
              <a:chExt cx="1303366" cy="564338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CFFC49A0-CBDA-F8D0-5144-0018E34B5844}"/>
                  </a:ext>
                </a:extLst>
              </p:cNvPr>
              <p:cNvSpPr/>
              <p:nvPr/>
            </p:nvSpPr>
            <p:spPr>
              <a:xfrm>
                <a:off x="9671494" y="5027338"/>
                <a:ext cx="1303366" cy="564338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0" tIns="72000" rIns="180000" bIns="182880" rtlCol="0" anchor="t"/>
              <a:lstStyle/>
              <a:p>
                <a:r>
                  <a:rPr lang="en-US" sz="1200" b="1" err="1">
                    <a:solidFill>
                      <a:schemeClr val="bg2"/>
                    </a:solidFill>
                  </a:rPr>
                  <a:t>性能</a:t>
                </a:r>
                <a:endParaRPr lang="en-CN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6538D87-04D2-46E5-4A18-B80FD748E41D}"/>
                  </a:ext>
                </a:extLst>
              </p:cNvPr>
              <p:cNvSpPr txBox="1"/>
              <p:nvPr/>
            </p:nvSpPr>
            <p:spPr>
              <a:xfrm>
                <a:off x="9739119" y="5369760"/>
                <a:ext cx="1154162" cy="15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zh-CN" altLang="en-US" sz="1000" dirty="0"/>
                  <a:t>响应快速、不掉链子</a:t>
                </a:r>
              </a:p>
            </p:txBody>
          </p:sp>
        </p:grpSp>
        <p:sp>
          <p:nvSpPr>
            <p:cNvPr id="115" name="iconfont-11432-4397782">
              <a:extLst>
                <a:ext uri="{FF2B5EF4-FFF2-40B4-BE49-F238E27FC236}">
                  <a16:creationId xmlns:a16="http://schemas.microsoft.com/office/drawing/2014/main" id="{682E0313-D658-A598-AC5F-69F4C0F68A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15597" y="3164201"/>
              <a:ext cx="166194" cy="252000"/>
            </a:xfrm>
            <a:custGeom>
              <a:avLst/>
              <a:gdLst>
                <a:gd name="T0" fmla="*/ 7378 w 7541"/>
                <a:gd name="T1" fmla="*/ 4575 h 11434"/>
                <a:gd name="T2" fmla="*/ 4583 w 7541"/>
                <a:gd name="T3" fmla="*/ 4581 h 11434"/>
                <a:gd name="T4" fmla="*/ 5389 w 7541"/>
                <a:gd name="T5" fmla="*/ 430 h 11434"/>
                <a:gd name="T6" fmla="*/ 4922 w 7541"/>
                <a:gd name="T7" fmla="*/ 222 h 11434"/>
                <a:gd name="T8" fmla="*/ 62 w 7541"/>
                <a:gd name="T9" fmla="*/ 6659 h 11434"/>
                <a:gd name="T10" fmla="*/ 162 w 7541"/>
                <a:gd name="T11" fmla="*/ 6859 h 11434"/>
                <a:gd name="T12" fmla="*/ 2957 w 7541"/>
                <a:gd name="T13" fmla="*/ 6853 h 11434"/>
                <a:gd name="T14" fmla="*/ 2152 w 7541"/>
                <a:gd name="T15" fmla="*/ 11004 h 11434"/>
                <a:gd name="T16" fmla="*/ 2619 w 7541"/>
                <a:gd name="T17" fmla="*/ 11212 h 11434"/>
                <a:gd name="T18" fmla="*/ 7478 w 7541"/>
                <a:gd name="T19" fmla="*/ 4776 h 11434"/>
                <a:gd name="T20" fmla="*/ 7378 w 7541"/>
                <a:gd name="T21" fmla="*/ 4575 h 1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41" h="11434">
                  <a:moveTo>
                    <a:pt x="7378" y="4575"/>
                  </a:moveTo>
                  <a:lnTo>
                    <a:pt x="4583" y="4581"/>
                  </a:lnTo>
                  <a:lnTo>
                    <a:pt x="5389" y="430"/>
                  </a:lnTo>
                  <a:cubicBezTo>
                    <a:pt x="5442" y="157"/>
                    <a:pt x="5089" y="0"/>
                    <a:pt x="4922" y="222"/>
                  </a:cubicBezTo>
                  <a:lnTo>
                    <a:pt x="62" y="6659"/>
                  </a:lnTo>
                  <a:cubicBezTo>
                    <a:pt x="0" y="6741"/>
                    <a:pt x="59" y="6859"/>
                    <a:pt x="162" y="6859"/>
                  </a:cubicBezTo>
                  <a:lnTo>
                    <a:pt x="2957" y="6853"/>
                  </a:lnTo>
                  <a:lnTo>
                    <a:pt x="2152" y="11004"/>
                  </a:lnTo>
                  <a:cubicBezTo>
                    <a:pt x="2099" y="11277"/>
                    <a:pt x="2452" y="11434"/>
                    <a:pt x="2619" y="11212"/>
                  </a:cubicBezTo>
                  <a:lnTo>
                    <a:pt x="7478" y="4776"/>
                  </a:lnTo>
                  <a:cubicBezTo>
                    <a:pt x="7541" y="4693"/>
                    <a:pt x="7482" y="4575"/>
                    <a:pt x="7378" y="457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FD59998-0547-BA44-43B5-7C8E2B67C78D}"/>
              </a:ext>
            </a:extLst>
          </p:cNvPr>
          <p:cNvCxnSpPr>
            <a:cxnSpLocks/>
            <a:stCxn id="119" idx="3"/>
          </p:cNvCxnSpPr>
          <p:nvPr/>
        </p:nvCxnSpPr>
        <p:spPr>
          <a:xfrm flipH="1">
            <a:off x="10389392" y="2510228"/>
            <a:ext cx="180352" cy="47577"/>
          </a:xfrm>
          <a:prstGeom prst="line">
            <a:avLst/>
          </a:prstGeom>
          <a:ln w="6350">
            <a:solidFill>
              <a:schemeClr val="accent6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riangle 118">
            <a:extLst>
              <a:ext uri="{FF2B5EF4-FFF2-40B4-BE49-F238E27FC236}">
                <a16:creationId xmlns:a16="http://schemas.microsoft.com/office/drawing/2014/main" id="{7AF933BF-6ACE-667B-6D95-B0008B1D1493}"/>
              </a:ext>
            </a:extLst>
          </p:cNvPr>
          <p:cNvSpPr>
            <a:spLocks noChangeAspect="1"/>
          </p:cNvSpPr>
          <p:nvPr/>
        </p:nvSpPr>
        <p:spPr>
          <a:xfrm rot="1080188">
            <a:off x="10516111" y="2404872"/>
            <a:ext cx="140645" cy="108000"/>
          </a:xfrm>
          <a:prstGeom prst="triangl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CN" sz="1200">
              <a:solidFill>
                <a:prstClr val="white"/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A79A537-2E72-8D5C-BACC-4B3AFBC68190}"/>
              </a:ext>
            </a:extLst>
          </p:cNvPr>
          <p:cNvGrpSpPr/>
          <p:nvPr/>
        </p:nvGrpSpPr>
        <p:grpSpPr>
          <a:xfrm>
            <a:off x="9233201" y="5244492"/>
            <a:ext cx="1735176" cy="564338"/>
            <a:chOff x="9229216" y="5393822"/>
            <a:chExt cx="1735176" cy="564338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A1C7644C-CFD0-0F45-3C91-9A3FF2A94254}"/>
                </a:ext>
              </a:extLst>
            </p:cNvPr>
            <p:cNvGrpSpPr/>
            <p:nvPr/>
          </p:nvGrpSpPr>
          <p:grpSpPr>
            <a:xfrm>
              <a:off x="9229216" y="5393822"/>
              <a:ext cx="1735176" cy="564338"/>
              <a:chOff x="9354322" y="5325367"/>
              <a:chExt cx="1735176" cy="564338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16D58DB1-383E-5339-1059-4A61B5C9FFF7}"/>
                  </a:ext>
                </a:extLst>
              </p:cNvPr>
              <p:cNvCxnSpPr>
                <a:cxnSpLocks/>
                <a:stCxn id="92" idx="3"/>
                <a:endCxn id="125" idx="1"/>
              </p:cNvCxnSpPr>
              <p:nvPr/>
            </p:nvCxnSpPr>
            <p:spPr>
              <a:xfrm>
                <a:off x="9354322" y="5329399"/>
                <a:ext cx="149233" cy="278137"/>
              </a:xfrm>
              <a:prstGeom prst="line">
                <a:avLst/>
              </a:prstGeom>
              <a:ln w="6350">
                <a:solidFill>
                  <a:schemeClr val="accent6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C31BE860-C1E0-EE84-04FD-5EF9B1D553F9}"/>
                  </a:ext>
                </a:extLst>
              </p:cNvPr>
              <p:cNvGrpSpPr/>
              <p:nvPr/>
            </p:nvGrpSpPr>
            <p:grpSpPr>
              <a:xfrm>
                <a:off x="9503555" y="5325367"/>
                <a:ext cx="1585943" cy="564338"/>
                <a:chOff x="9692026" y="4999951"/>
                <a:chExt cx="1585943" cy="564338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D9F67E56-4583-629F-4FCE-A6E4A7BC9125}"/>
                    </a:ext>
                  </a:extLst>
                </p:cNvPr>
                <p:cNvSpPr/>
                <p:nvPr/>
              </p:nvSpPr>
              <p:spPr>
                <a:xfrm>
                  <a:off x="9692026" y="4999951"/>
                  <a:ext cx="1585943" cy="564338"/>
                </a:xfrm>
                <a:prstGeom prst="rect">
                  <a:avLst/>
                </a:prstGeom>
                <a:noFill/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0" tIns="72000" rIns="180000" bIns="182880" rtlCol="0" anchor="t"/>
                <a:lstStyle/>
                <a:p>
                  <a:r>
                    <a:rPr lang="en-US" sz="1200" b="1" err="1">
                      <a:solidFill>
                        <a:schemeClr val="bg2"/>
                      </a:solidFill>
                    </a:rPr>
                    <a:t>护城河</a:t>
                  </a:r>
                  <a:endParaRPr lang="en-CN" sz="120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0C847F42-3DB0-AC38-1139-BF5E64A7E810}"/>
                    </a:ext>
                  </a:extLst>
                </p:cNvPr>
                <p:cNvSpPr txBox="1"/>
                <p:nvPr/>
              </p:nvSpPr>
              <p:spPr>
                <a:xfrm>
                  <a:off x="9751513" y="5357151"/>
                  <a:ext cx="1410644" cy="153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zh-CN" altLang="en-US" sz="1000"/>
                    <a:t>独特竞争壁垒、难以复制</a:t>
                  </a:r>
                  <a:endParaRPr lang="en-CN"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122" name="tower-of-london_1005">
              <a:extLst>
                <a:ext uri="{FF2B5EF4-FFF2-40B4-BE49-F238E27FC236}">
                  <a16:creationId xmlns:a16="http://schemas.microsoft.com/office/drawing/2014/main" id="{9E329F54-0CDE-3937-9151-543A269011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7216" y="5420091"/>
              <a:ext cx="232866" cy="216000"/>
            </a:xfrm>
            <a:custGeom>
              <a:avLst/>
              <a:gdLst>
                <a:gd name="T0" fmla="*/ 225185 h 604667"/>
                <a:gd name="T1" fmla="*/ 225185 h 604667"/>
                <a:gd name="T2" fmla="*/ 225185 h 604667"/>
                <a:gd name="T3" fmla="*/ 225185 h 604667"/>
                <a:gd name="T4" fmla="*/ 225185 h 604667"/>
                <a:gd name="T5" fmla="*/ 225185 h 604667"/>
                <a:gd name="T6" fmla="*/ 225185 h 604667"/>
                <a:gd name="T7" fmla="*/ 225185 h 604667"/>
                <a:gd name="T8" fmla="*/ 225185 h 604667"/>
                <a:gd name="T9" fmla="*/ 225185 h 604667"/>
                <a:gd name="T10" fmla="*/ 225185 h 604667"/>
                <a:gd name="T11" fmla="*/ 225185 h 604667"/>
                <a:gd name="T12" fmla="*/ 225185 h 604667"/>
                <a:gd name="T13" fmla="*/ 225185 h 604667"/>
                <a:gd name="T14" fmla="*/ 225185 h 604667"/>
                <a:gd name="T15" fmla="*/ 225185 h 604667"/>
                <a:gd name="T16" fmla="*/ 225185 h 604667"/>
                <a:gd name="T17" fmla="*/ 225185 h 604667"/>
                <a:gd name="T18" fmla="*/ 225185 h 604667"/>
                <a:gd name="T19" fmla="*/ 225185 h 604667"/>
                <a:gd name="T20" fmla="*/ 225185 h 604667"/>
                <a:gd name="T21" fmla="*/ 225185 h 604667"/>
                <a:gd name="T22" fmla="*/ 225185 h 604667"/>
                <a:gd name="T23" fmla="*/ 225185 h 604667"/>
                <a:gd name="T24" fmla="*/ 225185 h 604667"/>
                <a:gd name="T25" fmla="*/ 225185 h 604667"/>
                <a:gd name="T26" fmla="*/ 225185 h 604667"/>
                <a:gd name="T27" fmla="*/ 225185 h 604667"/>
                <a:gd name="T28" fmla="*/ 225185 h 604667"/>
                <a:gd name="T29" fmla="*/ 225185 h 604667"/>
                <a:gd name="T30" fmla="*/ 225185 h 604667"/>
                <a:gd name="T31" fmla="*/ 225185 h 604667"/>
                <a:gd name="T32" fmla="*/ 225185 h 604667"/>
                <a:gd name="T33" fmla="*/ 225185 h 604667"/>
                <a:gd name="T34" fmla="*/ 225185 h 604667"/>
                <a:gd name="T35" fmla="*/ 225185 h 604667"/>
                <a:gd name="T36" fmla="*/ 225185 h 604667"/>
                <a:gd name="T37" fmla="*/ 225185 h 604667"/>
                <a:gd name="T38" fmla="*/ 225185 h 604667"/>
                <a:gd name="T39" fmla="*/ 225185 h 604667"/>
                <a:gd name="T40" fmla="*/ 225185 h 604667"/>
                <a:gd name="T41" fmla="*/ 225185 h 604667"/>
                <a:gd name="T42" fmla="*/ 225185 h 604667"/>
                <a:gd name="T43" fmla="*/ 225185 h 604667"/>
                <a:gd name="T44" fmla="*/ 225185 h 604667"/>
                <a:gd name="T45" fmla="*/ 225185 h 604667"/>
                <a:gd name="T46" fmla="*/ 225185 h 604667"/>
                <a:gd name="T47" fmla="*/ 225185 h 604667"/>
                <a:gd name="T48" fmla="*/ 225185 h 604667"/>
                <a:gd name="T49" fmla="*/ 225185 h 604667"/>
                <a:gd name="T50" fmla="*/ 225185 h 604667"/>
                <a:gd name="T51" fmla="*/ 225185 h 604667"/>
                <a:gd name="T52" fmla="*/ 225185 h 604667"/>
                <a:gd name="T53" fmla="*/ 225185 h 604667"/>
                <a:gd name="T54" fmla="*/ 225185 h 604667"/>
                <a:gd name="T55" fmla="*/ 225185 h 604667"/>
                <a:gd name="T56" fmla="*/ 225185 h 604667"/>
                <a:gd name="T57" fmla="*/ 225185 h 604667"/>
                <a:gd name="T58" fmla="*/ 225185 h 604667"/>
                <a:gd name="T59" fmla="*/ 225185 h 604667"/>
                <a:gd name="T60" fmla="*/ 225185 h 604667"/>
                <a:gd name="T61" fmla="*/ 225185 h 604667"/>
                <a:gd name="T62" fmla="*/ 225185 h 604667"/>
                <a:gd name="T63" fmla="*/ 225185 h 604667"/>
                <a:gd name="T64" fmla="*/ 225185 h 604667"/>
                <a:gd name="T65" fmla="*/ 225185 h 604667"/>
                <a:gd name="T66" fmla="*/ 225185 h 604667"/>
                <a:gd name="T67" fmla="*/ 225185 h 604667"/>
                <a:gd name="T68" fmla="*/ 225185 h 604667"/>
                <a:gd name="T69" fmla="*/ 225185 h 604667"/>
                <a:gd name="T70" fmla="*/ 225185 h 604667"/>
                <a:gd name="T71" fmla="*/ 225185 h 604667"/>
                <a:gd name="T72" fmla="*/ 225185 h 604667"/>
                <a:gd name="T73" fmla="*/ 225185 h 604667"/>
                <a:gd name="T74" fmla="*/ 225185 h 604667"/>
                <a:gd name="T75" fmla="*/ 225185 h 604667"/>
                <a:gd name="T76" fmla="*/ 225185 h 604667"/>
                <a:gd name="T77" fmla="*/ 225185 h 604667"/>
                <a:gd name="T78" fmla="*/ 225185 h 604667"/>
                <a:gd name="T79" fmla="*/ 225185 h 604667"/>
                <a:gd name="T80" fmla="*/ 225185 h 604667"/>
                <a:gd name="T81" fmla="*/ 225185 h 604667"/>
                <a:gd name="T82" fmla="*/ 225185 h 604667"/>
                <a:gd name="T83" fmla="*/ 225185 h 604667"/>
                <a:gd name="T84" fmla="*/ 225185 h 604667"/>
                <a:gd name="T85" fmla="*/ 225185 h 604667"/>
                <a:gd name="T86" fmla="*/ 225185 h 604667"/>
                <a:gd name="T87" fmla="*/ 225185 h 604667"/>
                <a:gd name="T88" fmla="*/ 225185 h 604667"/>
                <a:gd name="T89" fmla="*/ 225185 h 604667"/>
                <a:gd name="T90" fmla="*/ 225185 h 604667"/>
                <a:gd name="T91" fmla="*/ 225185 h 604667"/>
                <a:gd name="T92" fmla="*/ 225185 h 604667"/>
                <a:gd name="T93" fmla="*/ 225185 h 604667"/>
                <a:gd name="T94" fmla="*/ 225185 h 604667"/>
                <a:gd name="T95" fmla="*/ 225185 h 604667"/>
                <a:gd name="T96" fmla="*/ 225185 h 604667"/>
                <a:gd name="T97" fmla="*/ 225185 h 604667"/>
                <a:gd name="T98" fmla="*/ 225185 h 604667"/>
                <a:gd name="T99" fmla="*/ 225185 h 604667"/>
                <a:gd name="T100" fmla="*/ 225185 h 604667"/>
                <a:gd name="T101" fmla="*/ 225185 h 604667"/>
                <a:gd name="T102" fmla="*/ 225185 h 604667"/>
                <a:gd name="T103" fmla="*/ 225185 h 604667"/>
                <a:gd name="T104" fmla="*/ 225185 h 604667"/>
                <a:gd name="T105" fmla="*/ 225185 h 604667"/>
                <a:gd name="T106" fmla="*/ 225185 h 604667"/>
                <a:gd name="T107" fmla="*/ 225185 h 604667"/>
                <a:gd name="T108" fmla="*/ 225185 h 604667"/>
                <a:gd name="T109" fmla="*/ 225185 h 604667"/>
                <a:gd name="T110" fmla="*/ 225185 h 604667"/>
                <a:gd name="T111" fmla="*/ 225185 h 604667"/>
                <a:gd name="T112" fmla="*/ 225185 h 604667"/>
                <a:gd name="T113" fmla="*/ 225185 h 604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2" h="234">
                  <a:moveTo>
                    <a:pt x="246" y="192"/>
                  </a:moveTo>
                  <a:lnTo>
                    <a:pt x="246" y="186"/>
                  </a:lnTo>
                  <a:lnTo>
                    <a:pt x="239" y="186"/>
                  </a:lnTo>
                  <a:lnTo>
                    <a:pt x="239" y="192"/>
                  </a:lnTo>
                  <a:lnTo>
                    <a:pt x="236" y="192"/>
                  </a:lnTo>
                  <a:lnTo>
                    <a:pt x="236" y="62"/>
                  </a:lnTo>
                  <a:lnTo>
                    <a:pt x="238" y="62"/>
                  </a:lnTo>
                  <a:lnTo>
                    <a:pt x="238" y="59"/>
                  </a:lnTo>
                  <a:lnTo>
                    <a:pt x="243" y="59"/>
                  </a:lnTo>
                  <a:lnTo>
                    <a:pt x="236" y="56"/>
                  </a:lnTo>
                  <a:cubicBezTo>
                    <a:pt x="236" y="56"/>
                    <a:pt x="238" y="51"/>
                    <a:pt x="233" y="46"/>
                  </a:cubicBezTo>
                  <a:cubicBezTo>
                    <a:pt x="229" y="42"/>
                    <a:pt x="226" y="42"/>
                    <a:pt x="223" y="36"/>
                  </a:cubicBezTo>
                  <a:cubicBezTo>
                    <a:pt x="222" y="32"/>
                    <a:pt x="222" y="29"/>
                    <a:pt x="222" y="29"/>
                  </a:cubicBezTo>
                  <a:cubicBezTo>
                    <a:pt x="223" y="28"/>
                    <a:pt x="225" y="28"/>
                    <a:pt x="225" y="26"/>
                  </a:cubicBezTo>
                  <a:cubicBezTo>
                    <a:pt x="225" y="24"/>
                    <a:pt x="223" y="23"/>
                    <a:pt x="222" y="22"/>
                  </a:cubicBezTo>
                  <a:lnTo>
                    <a:pt x="222" y="13"/>
                  </a:lnTo>
                  <a:cubicBezTo>
                    <a:pt x="223" y="13"/>
                    <a:pt x="224" y="13"/>
                    <a:pt x="224" y="12"/>
                  </a:cubicBezTo>
                  <a:cubicBezTo>
                    <a:pt x="224" y="12"/>
                    <a:pt x="223" y="11"/>
                    <a:pt x="222" y="11"/>
                  </a:cubicBezTo>
                  <a:lnTo>
                    <a:pt x="222" y="2"/>
                  </a:lnTo>
                  <a:cubicBezTo>
                    <a:pt x="222" y="2"/>
                    <a:pt x="222" y="1"/>
                    <a:pt x="222" y="1"/>
                  </a:cubicBezTo>
                  <a:cubicBezTo>
                    <a:pt x="222" y="0"/>
                    <a:pt x="222" y="0"/>
                    <a:pt x="221" y="0"/>
                  </a:cubicBezTo>
                  <a:cubicBezTo>
                    <a:pt x="221" y="0"/>
                    <a:pt x="220" y="0"/>
                    <a:pt x="220" y="1"/>
                  </a:cubicBezTo>
                  <a:cubicBezTo>
                    <a:pt x="220" y="1"/>
                    <a:pt x="220" y="2"/>
                    <a:pt x="221" y="2"/>
                  </a:cubicBezTo>
                  <a:lnTo>
                    <a:pt x="221" y="11"/>
                  </a:lnTo>
                  <a:cubicBezTo>
                    <a:pt x="219" y="11"/>
                    <a:pt x="218" y="12"/>
                    <a:pt x="218" y="12"/>
                  </a:cubicBezTo>
                  <a:cubicBezTo>
                    <a:pt x="218" y="13"/>
                    <a:pt x="219" y="13"/>
                    <a:pt x="221" y="13"/>
                  </a:cubicBezTo>
                  <a:lnTo>
                    <a:pt x="221" y="22"/>
                  </a:lnTo>
                  <a:cubicBezTo>
                    <a:pt x="220" y="23"/>
                    <a:pt x="218" y="24"/>
                    <a:pt x="218" y="26"/>
                  </a:cubicBezTo>
                  <a:cubicBezTo>
                    <a:pt x="218" y="28"/>
                    <a:pt x="219" y="28"/>
                    <a:pt x="220" y="29"/>
                  </a:cubicBezTo>
                  <a:cubicBezTo>
                    <a:pt x="220" y="29"/>
                    <a:pt x="220" y="32"/>
                    <a:pt x="219" y="36"/>
                  </a:cubicBezTo>
                  <a:cubicBezTo>
                    <a:pt x="217" y="42"/>
                    <a:pt x="213" y="42"/>
                    <a:pt x="209" y="46"/>
                  </a:cubicBezTo>
                  <a:cubicBezTo>
                    <a:pt x="204" y="51"/>
                    <a:pt x="206" y="56"/>
                    <a:pt x="206" y="56"/>
                  </a:cubicBezTo>
                  <a:lnTo>
                    <a:pt x="199" y="59"/>
                  </a:lnTo>
                  <a:lnTo>
                    <a:pt x="205" y="59"/>
                  </a:lnTo>
                  <a:lnTo>
                    <a:pt x="205" y="62"/>
                  </a:lnTo>
                  <a:lnTo>
                    <a:pt x="206" y="62"/>
                  </a:lnTo>
                  <a:lnTo>
                    <a:pt x="206" y="90"/>
                  </a:lnTo>
                  <a:lnTo>
                    <a:pt x="196" y="90"/>
                  </a:lnTo>
                  <a:lnTo>
                    <a:pt x="196" y="100"/>
                  </a:lnTo>
                  <a:lnTo>
                    <a:pt x="190" y="100"/>
                  </a:lnTo>
                  <a:lnTo>
                    <a:pt x="190" y="90"/>
                  </a:lnTo>
                  <a:lnTo>
                    <a:pt x="179" y="90"/>
                  </a:lnTo>
                  <a:lnTo>
                    <a:pt x="179" y="100"/>
                  </a:lnTo>
                  <a:lnTo>
                    <a:pt x="173" y="100"/>
                  </a:lnTo>
                  <a:lnTo>
                    <a:pt x="173" y="90"/>
                  </a:lnTo>
                  <a:lnTo>
                    <a:pt x="163" y="90"/>
                  </a:lnTo>
                  <a:lnTo>
                    <a:pt x="163" y="100"/>
                  </a:lnTo>
                  <a:lnTo>
                    <a:pt x="156" y="100"/>
                  </a:lnTo>
                  <a:lnTo>
                    <a:pt x="156" y="90"/>
                  </a:lnTo>
                  <a:lnTo>
                    <a:pt x="146" y="90"/>
                  </a:lnTo>
                  <a:lnTo>
                    <a:pt x="146" y="100"/>
                  </a:lnTo>
                  <a:lnTo>
                    <a:pt x="139" y="100"/>
                  </a:lnTo>
                  <a:lnTo>
                    <a:pt x="139" y="90"/>
                  </a:lnTo>
                  <a:lnTo>
                    <a:pt x="129" y="90"/>
                  </a:lnTo>
                  <a:lnTo>
                    <a:pt x="129" y="100"/>
                  </a:lnTo>
                  <a:lnTo>
                    <a:pt x="123" y="100"/>
                  </a:lnTo>
                  <a:lnTo>
                    <a:pt x="123" y="90"/>
                  </a:lnTo>
                  <a:lnTo>
                    <a:pt x="112" y="90"/>
                  </a:lnTo>
                  <a:lnTo>
                    <a:pt x="112" y="100"/>
                  </a:lnTo>
                  <a:lnTo>
                    <a:pt x="106" y="100"/>
                  </a:lnTo>
                  <a:lnTo>
                    <a:pt x="106" y="90"/>
                  </a:lnTo>
                  <a:lnTo>
                    <a:pt x="95" y="90"/>
                  </a:lnTo>
                  <a:lnTo>
                    <a:pt x="95" y="100"/>
                  </a:lnTo>
                  <a:lnTo>
                    <a:pt x="89" y="100"/>
                  </a:lnTo>
                  <a:lnTo>
                    <a:pt x="89" y="90"/>
                  </a:lnTo>
                  <a:lnTo>
                    <a:pt x="79" y="90"/>
                  </a:lnTo>
                  <a:lnTo>
                    <a:pt x="79" y="100"/>
                  </a:lnTo>
                  <a:lnTo>
                    <a:pt x="72" y="100"/>
                  </a:lnTo>
                  <a:lnTo>
                    <a:pt x="72" y="90"/>
                  </a:lnTo>
                  <a:lnTo>
                    <a:pt x="62" y="90"/>
                  </a:lnTo>
                  <a:lnTo>
                    <a:pt x="62" y="100"/>
                  </a:lnTo>
                  <a:lnTo>
                    <a:pt x="55" y="100"/>
                  </a:lnTo>
                  <a:lnTo>
                    <a:pt x="55" y="90"/>
                  </a:lnTo>
                  <a:lnTo>
                    <a:pt x="45" y="90"/>
                  </a:lnTo>
                  <a:lnTo>
                    <a:pt x="45" y="62"/>
                  </a:lnTo>
                  <a:lnTo>
                    <a:pt x="47" y="62"/>
                  </a:lnTo>
                  <a:lnTo>
                    <a:pt x="47" y="59"/>
                  </a:lnTo>
                  <a:lnTo>
                    <a:pt x="52" y="59"/>
                  </a:lnTo>
                  <a:lnTo>
                    <a:pt x="45" y="56"/>
                  </a:lnTo>
                  <a:cubicBezTo>
                    <a:pt x="45" y="56"/>
                    <a:pt x="47" y="51"/>
                    <a:pt x="43" y="46"/>
                  </a:cubicBezTo>
                  <a:cubicBezTo>
                    <a:pt x="38" y="42"/>
                    <a:pt x="35" y="42"/>
                    <a:pt x="33" y="36"/>
                  </a:cubicBezTo>
                  <a:cubicBezTo>
                    <a:pt x="31" y="32"/>
                    <a:pt x="31" y="29"/>
                    <a:pt x="31" y="29"/>
                  </a:cubicBezTo>
                  <a:cubicBezTo>
                    <a:pt x="32" y="28"/>
                    <a:pt x="34" y="28"/>
                    <a:pt x="34" y="26"/>
                  </a:cubicBezTo>
                  <a:cubicBezTo>
                    <a:pt x="34" y="24"/>
                    <a:pt x="32" y="23"/>
                    <a:pt x="31" y="22"/>
                  </a:cubicBezTo>
                  <a:lnTo>
                    <a:pt x="31" y="13"/>
                  </a:lnTo>
                  <a:cubicBezTo>
                    <a:pt x="32" y="13"/>
                    <a:pt x="34" y="13"/>
                    <a:pt x="34" y="12"/>
                  </a:cubicBezTo>
                  <a:cubicBezTo>
                    <a:pt x="34" y="12"/>
                    <a:pt x="32" y="11"/>
                    <a:pt x="31" y="11"/>
                  </a:cubicBezTo>
                  <a:lnTo>
                    <a:pt x="31" y="2"/>
                  </a:lnTo>
                  <a:cubicBezTo>
                    <a:pt x="31" y="2"/>
                    <a:pt x="31" y="1"/>
                    <a:pt x="31" y="1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29" y="0"/>
                    <a:pt x="29" y="1"/>
                  </a:cubicBezTo>
                  <a:cubicBezTo>
                    <a:pt x="29" y="1"/>
                    <a:pt x="29" y="2"/>
                    <a:pt x="30" y="2"/>
                  </a:cubicBezTo>
                  <a:lnTo>
                    <a:pt x="30" y="11"/>
                  </a:lnTo>
                  <a:cubicBezTo>
                    <a:pt x="28" y="11"/>
                    <a:pt x="27" y="12"/>
                    <a:pt x="27" y="12"/>
                  </a:cubicBezTo>
                  <a:cubicBezTo>
                    <a:pt x="27" y="13"/>
                    <a:pt x="28" y="13"/>
                    <a:pt x="30" y="13"/>
                  </a:cubicBezTo>
                  <a:lnTo>
                    <a:pt x="30" y="22"/>
                  </a:lnTo>
                  <a:cubicBezTo>
                    <a:pt x="29" y="23"/>
                    <a:pt x="27" y="24"/>
                    <a:pt x="27" y="26"/>
                  </a:cubicBezTo>
                  <a:cubicBezTo>
                    <a:pt x="27" y="28"/>
                    <a:pt x="28" y="28"/>
                    <a:pt x="29" y="29"/>
                  </a:cubicBezTo>
                  <a:cubicBezTo>
                    <a:pt x="29" y="29"/>
                    <a:pt x="29" y="32"/>
                    <a:pt x="28" y="36"/>
                  </a:cubicBezTo>
                  <a:cubicBezTo>
                    <a:pt x="26" y="42"/>
                    <a:pt x="22" y="42"/>
                    <a:pt x="18" y="46"/>
                  </a:cubicBezTo>
                  <a:cubicBezTo>
                    <a:pt x="14" y="51"/>
                    <a:pt x="15" y="56"/>
                    <a:pt x="15" y="56"/>
                  </a:cubicBezTo>
                  <a:lnTo>
                    <a:pt x="8" y="59"/>
                  </a:lnTo>
                  <a:lnTo>
                    <a:pt x="14" y="59"/>
                  </a:lnTo>
                  <a:lnTo>
                    <a:pt x="14" y="62"/>
                  </a:lnTo>
                  <a:lnTo>
                    <a:pt x="15" y="62"/>
                  </a:lnTo>
                  <a:lnTo>
                    <a:pt x="15" y="192"/>
                  </a:lnTo>
                  <a:lnTo>
                    <a:pt x="14" y="192"/>
                  </a:lnTo>
                  <a:lnTo>
                    <a:pt x="14" y="186"/>
                  </a:lnTo>
                  <a:lnTo>
                    <a:pt x="7" y="186"/>
                  </a:lnTo>
                  <a:lnTo>
                    <a:pt x="7" y="192"/>
                  </a:lnTo>
                  <a:lnTo>
                    <a:pt x="0" y="192"/>
                  </a:lnTo>
                  <a:lnTo>
                    <a:pt x="0" y="234"/>
                  </a:lnTo>
                  <a:lnTo>
                    <a:pt x="252" y="234"/>
                  </a:lnTo>
                  <a:lnTo>
                    <a:pt x="252" y="192"/>
                  </a:lnTo>
                  <a:lnTo>
                    <a:pt x="246" y="192"/>
                  </a:lnTo>
                  <a:close/>
                  <a:moveTo>
                    <a:pt x="56" y="117"/>
                  </a:moveTo>
                  <a:lnTo>
                    <a:pt x="56" y="117"/>
                  </a:lnTo>
                  <a:cubicBezTo>
                    <a:pt x="56" y="115"/>
                    <a:pt x="58" y="113"/>
                    <a:pt x="61" y="113"/>
                  </a:cubicBezTo>
                  <a:cubicBezTo>
                    <a:pt x="63" y="113"/>
                    <a:pt x="65" y="115"/>
                    <a:pt x="65" y="117"/>
                  </a:cubicBezTo>
                  <a:lnTo>
                    <a:pt x="65" y="131"/>
                  </a:lnTo>
                  <a:lnTo>
                    <a:pt x="56" y="131"/>
                  </a:lnTo>
                  <a:lnTo>
                    <a:pt x="56" y="117"/>
                  </a:lnTo>
                  <a:close/>
                  <a:moveTo>
                    <a:pt x="56" y="148"/>
                  </a:moveTo>
                  <a:cubicBezTo>
                    <a:pt x="56" y="145"/>
                    <a:pt x="58" y="143"/>
                    <a:pt x="61" y="143"/>
                  </a:cubicBezTo>
                  <a:cubicBezTo>
                    <a:pt x="63" y="143"/>
                    <a:pt x="65" y="145"/>
                    <a:pt x="65" y="148"/>
                  </a:cubicBezTo>
                  <a:lnTo>
                    <a:pt x="65" y="148"/>
                  </a:lnTo>
                  <a:lnTo>
                    <a:pt x="65" y="163"/>
                  </a:lnTo>
                  <a:lnTo>
                    <a:pt x="56" y="163"/>
                  </a:lnTo>
                  <a:lnTo>
                    <a:pt x="56" y="148"/>
                  </a:lnTo>
                  <a:close/>
                  <a:moveTo>
                    <a:pt x="66" y="197"/>
                  </a:moveTo>
                  <a:lnTo>
                    <a:pt x="55" y="197"/>
                  </a:lnTo>
                  <a:lnTo>
                    <a:pt x="55" y="180"/>
                  </a:lnTo>
                  <a:lnTo>
                    <a:pt x="55" y="180"/>
                  </a:lnTo>
                  <a:cubicBezTo>
                    <a:pt x="55" y="177"/>
                    <a:pt x="58" y="175"/>
                    <a:pt x="61" y="175"/>
                  </a:cubicBezTo>
                  <a:cubicBezTo>
                    <a:pt x="64" y="175"/>
                    <a:pt x="66" y="177"/>
                    <a:pt x="66" y="180"/>
                  </a:cubicBezTo>
                  <a:lnTo>
                    <a:pt x="66" y="180"/>
                  </a:lnTo>
                  <a:lnTo>
                    <a:pt x="66" y="197"/>
                  </a:lnTo>
                  <a:lnTo>
                    <a:pt x="66" y="197"/>
                  </a:lnTo>
                  <a:close/>
                  <a:moveTo>
                    <a:pt x="89" y="117"/>
                  </a:moveTo>
                  <a:lnTo>
                    <a:pt x="89" y="117"/>
                  </a:lnTo>
                  <a:cubicBezTo>
                    <a:pt x="89" y="115"/>
                    <a:pt x="91" y="113"/>
                    <a:pt x="93" y="113"/>
                  </a:cubicBezTo>
                  <a:cubicBezTo>
                    <a:pt x="96" y="113"/>
                    <a:pt x="98" y="115"/>
                    <a:pt x="98" y="117"/>
                  </a:cubicBezTo>
                  <a:lnTo>
                    <a:pt x="98" y="117"/>
                  </a:lnTo>
                  <a:lnTo>
                    <a:pt x="98" y="131"/>
                  </a:lnTo>
                  <a:lnTo>
                    <a:pt x="89" y="131"/>
                  </a:lnTo>
                  <a:lnTo>
                    <a:pt x="89" y="117"/>
                  </a:lnTo>
                  <a:close/>
                  <a:moveTo>
                    <a:pt x="88" y="148"/>
                  </a:moveTo>
                  <a:lnTo>
                    <a:pt x="88" y="148"/>
                  </a:lnTo>
                  <a:cubicBezTo>
                    <a:pt x="88" y="145"/>
                    <a:pt x="91" y="143"/>
                    <a:pt x="93" y="143"/>
                  </a:cubicBezTo>
                  <a:cubicBezTo>
                    <a:pt x="96" y="143"/>
                    <a:pt x="98" y="145"/>
                    <a:pt x="98" y="148"/>
                  </a:cubicBezTo>
                  <a:lnTo>
                    <a:pt x="98" y="163"/>
                  </a:lnTo>
                  <a:lnTo>
                    <a:pt x="88" y="163"/>
                  </a:lnTo>
                  <a:lnTo>
                    <a:pt x="88" y="148"/>
                  </a:lnTo>
                  <a:close/>
                  <a:moveTo>
                    <a:pt x="99" y="197"/>
                  </a:moveTo>
                  <a:lnTo>
                    <a:pt x="88" y="197"/>
                  </a:lnTo>
                  <a:lnTo>
                    <a:pt x="88" y="180"/>
                  </a:lnTo>
                  <a:lnTo>
                    <a:pt x="88" y="180"/>
                  </a:lnTo>
                  <a:cubicBezTo>
                    <a:pt x="88" y="177"/>
                    <a:pt x="90" y="175"/>
                    <a:pt x="93" y="175"/>
                  </a:cubicBezTo>
                  <a:cubicBezTo>
                    <a:pt x="96" y="175"/>
                    <a:pt x="98" y="177"/>
                    <a:pt x="99" y="180"/>
                  </a:cubicBezTo>
                  <a:lnTo>
                    <a:pt x="99" y="197"/>
                  </a:lnTo>
                  <a:lnTo>
                    <a:pt x="99" y="197"/>
                  </a:lnTo>
                  <a:close/>
                  <a:moveTo>
                    <a:pt x="121" y="117"/>
                  </a:moveTo>
                  <a:lnTo>
                    <a:pt x="121" y="117"/>
                  </a:lnTo>
                  <a:cubicBezTo>
                    <a:pt x="121" y="115"/>
                    <a:pt x="123" y="113"/>
                    <a:pt x="126" y="113"/>
                  </a:cubicBezTo>
                  <a:cubicBezTo>
                    <a:pt x="128" y="113"/>
                    <a:pt x="130" y="115"/>
                    <a:pt x="130" y="117"/>
                  </a:cubicBezTo>
                  <a:lnTo>
                    <a:pt x="130" y="131"/>
                  </a:lnTo>
                  <a:lnTo>
                    <a:pt x="121" y="131"/>
                  </a:lnTo>
                  <a:lnTo>
                    <a:pt x="121" y="117"/>
                  </a:lnTo>
                  <a:close/>
                  <a:moveTo>
                    <a:pt x="121" y="148"/>
                  </a:moveTo>
                  <a:lnTo>
                    <a:pt x="121" y="148"/>
                  </a:lnTo>
                  <a:cubicBezTo>
                    <a:pt x="121" y="145"/>
                    <a:pt x="123" y="143"/>
                    <a:pt x="126" y="143"/>
                  </a:cubicBezTo>
                  <a:cubicBezTo>
                    <a:pt x="128" y="143"/>
                    <a:pt x="130" y="145"/>
                    <a:pt x="131" y="148"/>
                  </a:cubicBezTo>
                  <a:lnTo>
                    <a:pt x="131" y="163"/>
                  </a:lnTo>
                  <a:lnTo>
                    <a:pt x="121" y="163"/>
                  </a:lnTo>
                  <a:lnTo>
                    <a:pt x="121" y="148"/>
                  </a:lnTo>
                  <a:close/>
                  <a:moveTo>
                    <a:pt x="131" y="197"/>
                  </a:moveTo>
                  <a:lnTo>
                    <a:pt x="120" y="197"/>
                  </a:lnTo>
                  <a:lnTo>
                    <a:pt x="120" y="180"/>
                  </a:lnTo>
                  <a:lnTo>
                    <a:pt x="120" y="180"/>
                  </a:lnTo>
                  <a:cubicBezTo>
                    <a:pt x="120" y="177"/>
                    <a:pt x="123" y="175"/>
                    <a:pt x="126" y="175"/>
                  </a:cubicBezTo>
                  <a:cubicBezTo>
                    <a:pt x="129" y="175"/>
                    <a:pt x="131" y="177"/>
                    <a:pt x="131" y="180"/>
                  </a:cubicBezTo>
                  <a:lnTo>
                    <a:pt x="131" y="197"/>
                  </a:lnTo>
                  <a:lnTo>
                    <a:pt x="131" y="197"/>
                  </a:lnTo>
                  <a:close/>
                  <a:moveTo>
                    <a:pt x="154" y="117"/>
                  </a:moveTo>
                  <a:cubicBezTo>
                    <a:pt x="154" y="115"/>
                    <a:pt x="156" y="113"/>
                    <a:pt x="158" y="113"/>
                  </a:cubicBezTo>
                  <a:cubicBezTo>
                    <a:pt x="161" y="113"/>
                    <a:pt x="163" y="115"/>
                    <a:pt x="163" y="117"/>
                  </a:cubicBezTo>
                  <a:lnTo>
                    <a:pt x="163" y="131"/>
                  </a:lnTo>
                  <a:lnTo>
                    <a:pt x="154" y="131"/>
                  </a:lnTo>
                  <a:lnTo>
                    <a:pt x="154" y="117"/>
                  </a:lnTo>
                  <a:close/>
                  <a:moveTo>
                    <a:pt x="154" y="148"/>
                  </a:moveTo>
                  <a:cubicBezTo>
                    <a:pt x="154" y="145"/>
                    <a:pt x="156" y="143"/>
                    <a:pt x="158" y="143"/>
                  </a:cubicBezTo>
                  <a:cubicBezTo>
                    <a:pt x="161" y="143"/>
                    <a:pt x="163" y="145"/>
                    <a:pt x="163" y="148"/>
                  </a:cubicBezTo>
                  <a:lnTo>
                    <a:pt x="163" y="148"/>
                  </a:lnTo>
                  <a:lnTo>
                    <a:pt x="163" y="163"/>
                  </a:lnTo>
                  <a:lnTo>
                    <a:pt x="153" y="163"/>
                  </a:lnTo>
                  <a:lnTo>
                    <a:pt x="154" y="148"/>
                  </a:lnTo>
                  <a:lnTo>
                    <a:pt x="154" y="148"/>
                  </a:lnTo>
                  <a:close/>
                  <a:moveTo>
                    <a:pt x="164" y="197"/>
                  </a:moveTo>
                  <a:lnTo>
                    <a:pt x="153" y="197"/>
                  </a:lnTo>
                  <a:lnTo>
                    <a:pt x="153" y="180"/>
                  </a:lnTo>
                  <a:cubicBezTo>
                    <a:pt x="153" y="177"/>
                    <a:pt x="155" y="175"/>
                    <a:pt x="158" y="175"/>
                  </a:cubicBezTo>
                  <a:cubicBezTo>
                    <a:pt x="161" y="175"/>
                    <a:pt x="164" y="177"/>
                    <a:pt x="164" y="180"/>
                  </a:cubicBezTo>
                  <a:lnTo>
                    <a:pt x="164" y="180"/>
                  </a:lnTo>
                  <a:lnTo>
                    <a:pt x="164" y="197"/>
                  </a:lnTo>
                  <a:lnTo>
                    <a:pt x="164" y="197"/>
                  </a:lnTo>
                  <a:close/>
                  <a:moveTo>
                    <a:pt x="186" y="117"/>
                  </a:moveTo>
                  <a:cubicBezTo>
                    <a:pt x="187" y="115"/>
                    <a:pt x="189" y="113"/>
                    <a:pt x="191" y="113"/>
                  </a:cubicBezTo>
                  <a:cubicBezTo>
                    <a:pt x="193" y="113"/>
                    <a:pt x="195" y="115"/>
                    <a:pt x="195" y="117"/>
                  </a:cubicBezTo>
                  <a:lnTo>
                    <a:pt x="195" y="131"/>
                  </a:lnTo>
                  <a:lnTo>
                    <a:pt x="186" y="131"/>
                  </a:lnTo>
                  <a:lnTo>
                    <a:pt x="186" y="117"/>
                  </a:lnTo>
                  <a:close/>
                  <a:moveTo>
                    <a:pt x="186" y="148"/>
                  </a:moveTo>
                  <a:lnTo>
                    <a:pt x="186" y="148"/>
                  </a:lnTo>
                  <a:cubicBezTo>
                    <a:pt x="186" y="145"/>
                    <a:pt x="188" y="143"/>
                    <a:pt x="191" y="143"/>
                  </a:cubicBezTo>
                  <a:cubicBezTo>
                    <a:pt x="194" y="143"/>
                    <a:pt x="196" y="145"/>
                    <a:pt x="196" y="148"/>
                  </a:cubicBezTo>
                  <a:lnTo>
                    <a:pt x="196" y="148"/>
                  </a:lnTo>
                  <a:lnTo>
                    <a:pt x="196" y="163"/>
                  </a:lnTo>
                  <a:lnTo>
                    <a:pt x="186" y="163"/>
                  </a:lnTo>
                  <a:lnTo>
                    <a:pt x="186" y="148"/>
                  </a:lnTo>
                  <a:lnTo>
                    <a:pt x="186" y="148"/>
                  </a:lnTo>
                  <a:close/>
                  <a:moveTo>
                    <a:pt x="196" y="197"/>
                  </a:moveTo>
                  <a:lnTo>
                    <a:pt x="186" y="197"/>
                  </a:lnTo>
                  <a:lnTo>
                    <a:pt x="186" y="180"/>
                  </a:lnTo>
                  <a:lnTo>
                    <a:pt x="186" y="180"/>
                  </a:lnTo>
                  <a:cubicBezTo>
                    <a:pt x="186" y="177"/>
                    <a:pt x="188" y="175"/>
                    <a:pt x="191" y="175"/>
                  </a:cubicBezTo>
                  <a:cubicBezTo>
                    <a:pt x="194" y="175"/>
                    <a:pt x="196" y="177"/>
                    <a:pt x="196" y="180"/>
                  </a:cubicBezTo>
                  <a:lnTo>
                    <a:pt x="196" y="180"/>
                  </a:lnTo>
                  <a:lnTo>
                    <a:pt x="196" y="197"/>
                  </a:lnTo>
                  <a:lnTo>
                    <a:pt x="196" y="19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079A335-E2E4-4386-3726-96AA4285B220}"/>
              </a:ext>
            </a:extLst>
          </p:cNvPr>
          <p:cNvGrpSpPr/>
          <p:nvPr/>
        </p:nvGrpSpPr>
        <p:grpSpPr>
          <a:xfrm>
            <a:off x="8242704" y="4341741"/>
            <a:ext cx="1551897" cy="564338"/>
            <a:chOff x="8242704" y="4341741"/>
            <a:chExt cx="1551897" cy="564338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1BFB8FE-7C74-6AF1-FED6-98A8796F4ADF}"/>
                </a:ext>
              </a:extLst>
            </p:cNvPr>
            <p:cNvGrpSpPr/>
            <p:nvPr/>
          </p:nvGrpSpPr>
          <p:grpSpPr>
            <a:xfrm>
              <a:off x="8242704" y="4341741"/>
              <a:ext cx="1551897" cy="564338"/>
              <a:chOff x="8151056" y="4367292"/>
              <a:chExt cx="1551897" cy="564338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7D80A884-FADA-5455-B477-0AF5BDFD7503}"/>
                  </a:ext>
                </a:extLst>
              </p:cNvPr>
              <p:cNvGrpSpPr/>
              <p:nvPr/>
            </p:nvGrpSpPr>
            <p:grpSpPr>
              <a:xfrm>
                <a:off x="8151056" y="4367292"/>
                <a:ext cx="1451509" cy="564338"/>
                <a:chOff x="9542277" y="5352754"/>
                <a:chExt cx="1451509" cy="564338"/>
              </a:xfrm>
            </p:grpSpPr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AE25F134-BC50-930A-FFB2-33923C12F488}"/>
                    </a:ext>
                  </a:extLst>
                </p:cNvPr>
                <p:cNvCxnSpPr>
                  <a:cxnSpLocks/>
                  <a:stCxn id="131" idx="3"/>
                  <a:endCxn id="134" idx="3"/>
                </p:cNvCxnSpPr>
                <p:nvPr/>
              </p:nvCxnSpPr>
              <p:spPr>
                <a:xfrm flipH="1" flipV="1">
                  <a:off x="10735915" y="5634923"/>
                  <a:ext cx="257871" cy="19613"/>
                </a:xfrm>
                <a:prstGeom prst="line">
                  <a:avLst/>
                </a:prstGeom>
                <a:ln w="6350">
                  <a:solidFill>
                    <a:schemeClr val="accent6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C1860851-4C29-3231-6908-E1B070FCB170}"/>
                    </a:ext>
                  </a:extLst>
                </p:cNvPr>
                <p:cNvGrpSpPr/>
                <p:nvPr/>
              </p:nvGrpSpPr>
              <p:grpSpPr>
                <a:xfrm>
                  <a:off x="9542277" y="5352754"/>
                  <a:ext cx="1193638" cy="564338"/>
                  <a:chOff x="9730748" y="5027338"/>
                  <a:chExt cx="1193638" cy="564338"/>
                </a:xfrm>
              </p:grpSpPr>
              <p:sp>
                <p:nvSpPr>
                  <p:cNvPr id="134" name="Rectangle 133">
                    <a:extLst>
                      <a:ext uri="{FF2B5EF4-FFF2-40B4-BE49-F238E27FC236}">
                        <a16:creationId xmlns:a16="http://schemas.microsoft.com/office/drawing/2014/main" id="{47ACE5CC-06C4-9AC4-EEAC-7531428B1AB4}"/>
                      </a:ext>
                    </a:extLst>
                  </p:cNvPr>
                  <p:cNvSpPr/>
                  <p:nvPr/>
                </p:nvSpPr>
                <p:spPr>
                  <a:xfrm>
                    <a:off x="9730748" y="5027338"/>
                    <a:ext cx="1193638" cy="564338"/>
                  </a:xfrm>
                  <a:prstGeom prst="rect">
                    <a:avLst/>
                  </a:prstGeom>
                  <a:noFill/>
                  <a:ln w="6350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0" tIns="72000" rIns="180000" bIns="182880" rtlCol="0" anchor="t"/>
                  <a:lstStyle/>
                  <a:p>
                    <a:r>
                      <a:rPr lang="en-US" sz="1200" b="1" err="1">
                        <a:solidFill>
                          <a:schemeClr val="bg2"/>
                        </a:solidFill>
                      </a:rPr>
                      <a:t>稳定性</a:t>
                    </a:r>
                    <a:endParaRPr lang="en-CN" sz="1200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04D32974-D842-B6A9-EA5F-B20370F7AB69}"/>
                      </a:ext>
                    </a:extLst>
                  </p:cNvPr>
                  <p:cNvSpPr txBox="1"/>
                  <p:nvPr/>
                </p:nvSpPr>
                <p:spPr>
                  <a:xfrm>
                    <a:off x="9793351" y="5368273"/>
                    <a:ext cx="902491" cy="1538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CN" sz="1000"/>
                      <a:t>Bug</a:t>
                    </a:r>
                    <a:r>
                      <a:rPr lang="zh-CN" altLang="en-US" sz="1000"/>
                      <a:t> 少，高可靠</a:t>
                    </a:r>
                    <a:endParaRPr lang="en-CN" sz="1000"/>
                  </a:p>
                </p:txBody>
              </p:sp>
            </p:grpSp>
          </p:grpSp>
          <p:sp>
            <p:nvSpPr>
              <p:cNvPr id="131" name="Triangle 130">
                <a:extLst>
                  <a:ext uri="{FF2B5EF4-FFF2-40B4-BE49-F238E27FC236}">
                    <a16:creationId xmlns:a16="http://schemas.microsoft.com/office/drawing/2014/main" id="{6F4B696B-D870-7586-214A-7862A6CC37D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29985">
                <a:off x="9562308" y="4570218"/>
                <a:ext cx="140645" cy="108000"/>
              </a:xfrm>
              <a:prstGeom prst="triangl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182880" rIns="182880" bIns="182880" rtlCol="0" anchor="ctr"/>
              <a:lstStyle/>
              <a:p>
                <a:pPr algn="l"/>
                <a:endParaRPr lang="en-CN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9" name="security-against-bugs_75977">
              <a:extLst>
                <a:ext uri="{FF2B5EF4-FFF2-40B4-BE49-F238E27FC236}">
                  <a16:creationId xmlns:a16="http://schemas.microsoft.com/office/drawing/2014/main" id="{FD09DAEF-F3E8-DF80-7337-38ECEFF8A7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9381" y="4397161"/>
              <a:ext cx="216326" cy="216000"/>
            </a:xfrm>
            <a:custGeom>
              <a:avLst/>
              <a:gdLst>
                <a:gd name="T0" fmla="*/ 3209 w 6419"/>
                <a:gd name="T1" fmla="*/ 0 h 6419"/>
                <a:gd name="T2" fmla="*/ 0 w 6419"/>
                <a:gd name="T3" fmla="*/ 3209 h 6419"/>
                <a:gd name="T4" fmla="*/ 3209 w 6419"/>
                <a:gd name="T5" fmla="*/ 6419 h 6419"/>
                <a:gd name="T6" fmla="*/ 6419 w 6419"/>
                <a:gd name="T7" fmla="*/ 3209 h 6419"/>
                <a:gd name="T8" fmla="*/ 3209 w 6419"/>
                <a:gd name="T9" fmla="*/ 0 h 6419"/>
                <a:gd name="T10" fmla="*/ 2496 w 6419"/>
                <a:gd name="T11" fmla="*/ 889 h 6419"/>
                <a:gd name="T12" fmla="*/ 2651 w 6419"/>
                <a:gd name="T13" fmla="*/ 1044 h 6419"/>
                <a:gd name="T14" fmla="*/ 2763 w 6419"/>
                <a:gd name="T15" fmla="*/ 1375 h 6419"/>
                <a:gd name="T16" fmla="*/ 3209 w 6419"/>
                <a:gd name="T17" fmla="*/ 1214 h 6419"/>
                <a:gd name="T18" fmla="*/ 3656 w 6419"/>
                <a:gd name="T19" fmla="*/ 1375 h 6419"/>
                <a:gd name="T20" fmla="*/ 3767 w 6419"/>
                <a:gd name="T21" fmla="*/ 1044 h 6419"/>
                <a:gd name="T22" fmla="*/ 3922 w 6419"/>
                <a:gd name="T23" fmla="*/ 889 h 6419"/>
                <a:gd name="T24" fmla="*/ 4077 w 6419"/>
                <a:gd name="T25" fmla="*/ 1044 h 6419"/>
                <a:gd name="T26" fmla="*/ 3853 w 6419"/>
                <a:gd name="T27" fmla="*/ 1624 h 6419"/>
                <a:gd name="T28" fmla="*/ 3922 w 6419"/>
                <a:gd name="T29" fmla="*/ 1927 h 6419"/>
                <a:gd name="T30" fmla="*/ 3914 w 6419"/>
                <a:gd name="T31" fmla="*/ 2007 h 6419"/>
                <a:gd name="T32" fmla="*/ 4543 w 6419"/>
                <a:gd name="T33" fmla="*/ 2582 h 6419"/>
                <a:gd name="T34" fmla="*/ 4763 w 6419"/>
                <a:gd name="T35" fmla="*/ 1787 h 6419"/>
                <a:gd name="T36" fmla="*/ 4919 w 6419"/>
                <a:gd name="T37" fmla="*/ 1632 h 6419"/>
                <a:gd name="T38" fmla="*/ 5074 w 6419"/>
                <a:gd name="T39" fmla="*/ 1787 h 6419"/>
                <a:gd name="T40" fmla="*/ 4590 w 6419"/>
                <a:gd name="T41" fmla="*/ 3036 h 6419"/>
                <a:gd name="T42" fmla="*/ 4572 w 6419"/>
                <a:gd name="T43" fmla="*/ 3160 h 6419"/>
                <a:gd name="T44" fmla="*/ 5074 w 6419"/>
                <a:gd name="T45" fmla="*/ 4428 h 6419"/>
                <a:gd name="T46" fmla="*/ 5022 w 6419"/>
                <a:gd name="T47" fmla="*/ 4542 h 6419"/>
                <a:gd name="T48" fmla="*/ 4752 w 6419"/>
                <a:gd name="T49" fmla="*/ 4272 h 6419"/>
                <a:gd name="T50" fmla="*/ 4748 w 6419"/>
                <a:gd name="T51" fmla="*/ 4268 h 6419"/>
                <a:gd name="T52" fmla="*/ 4494 w 6419"/>
                <a:gd name="T53" fmla="*/ 3571 h 6419"/>
                <a:gd name="T54" fmla="*/ 4397 w 6419"/>
                <a:gd name="T55" fmla="*/ 3918 h 6419"/>
                <a:gd name="T56" fmla="*/ 4394 w 6419"/>
                <a:gd name="T57" fmla="*/ 3914 h 6419"/>
                <a:gd name="T58" fmla="*/ 2492 w 6419"/>
                <a:gd name="T59" fmla="*/ 2012 h 6419"/>
                <a:gd name="T60" fmla="*/ 2504 w 6419"/>
                <a:gd name="T61" fmla="*/ 2007 h 6419"/>
                <a:gd name="T62" fmla="*/ 2496 w 6419"/>
                <a:gd name="T63" fmla="*/ 1927 h 6419"/>
                <a:gd name="T64" fmla="*/ 2566 w 6419"/>
                <a:gd name="T65" fmla="*/ 1624 h 6419"/>
                <a:gd name="T66" fmla="*/ 2341 w 6419"/>
                <a:gd name="T67" fmla="*/ 1044 h 6419"/>
                <a:gd name="T68" fmla="*/ 2496 w 6419"/>
                <a:gd name="T69" fmla="*/ 889 h 6419"/>
                <a:gd name="T70" fmla="*/ 4446 w 6419"/>
                <a:gd name="T71" fmla="*/ 5530 h 6419"/>
                <a:gd name="T72" fmla="*/ 4291 w 6419"/>
                <a:gd name="T73" fmla="*/ 5375 h 6419"/>
                <a:gd name="T74" fmla="*/ 4053 w 6419"/>
                <a:gd name="T75" fmla="*/ 4700 h 6419"/>
                <a:gd name="T76" fmla="*/ 3209 w 6419"/>
                <a:gd name="T77" fmla="*/ 5295 h 6419"/>
                <a:gd name="T78" fmla="*/ 2365 w 6419"/>
                <a:gd name="T79" fmla="*/ 4700 h 6419"/>
                <a:gd name="T80" fmla="*/ 2128 w 6419"/>
                <a:gd name="T81" fmla="*/ 5375 h 6419"/>
                <a:gd name="T82" fmla="*/ 1973 w 6419"/>
                <a:gd name="T83" fmla="*/ 5530 h 6419"/>
                <a:gd name="T84" fmla="*/ 1817 w 6419"/>
                <a:gd name="T85" fmla="*/ 5375 h 6419"/>
                <a:gd name="T86" fmla="*/ 2211 w 6419"/>
                <a:gd name="T87" fmla="*/ 4407 h 6419"/>
                <a:gd name="T88" fmla="*/ 1925 w 6419"/>
                <a:gd name="T89" fmla="*/ 3554 h 6419"/>
                <a:gd name="T90" fmla="*/ 1655 w 6419"/>
                <a:gd name="T91" fmla="*/ 4428 h 6419"/>
                <a:gd name="T92" fmla="*/ 1500 w 6419"/>
                <a:gd name="T93" fmla="*/ 4583 h 6419"/>
                <a:gd name="T94" fmla="*/ 1344 w 6419"/>
                <a:gd name="T95" fmla="*/ 4428 h 6419"/>
                <a:gd name="T96" fmla="*/ 1846 w 6419"/>
                <a:gd name="T97" fmla="*/ 3160 h 6419"/>
                <a:gd name="T98" fmla="*/ 1828 w 6419"/>
                <a:gd name="T99" fmla="*/ 3036 h 6419"/>
                <a:gd name="T100" fmla="*/ 1344 w 6419"/>
                <a:gd name="T101" fmla="*/ 1787 h 6419"/>
                <a:gd name="T102" fmla="*/ 1350 w 6419"/>
                <a:gd name="T103" fmla="*/ 1762 h 6419"/>
                <a:gd name="T104" fmla="*/ 1692 w 6419"/>
                <a:gd name="T105" fmla="*/ 2105 h 6419"/>
                <a:gd name="T106" fmla="*/ 1983 w 6419"/>
                <a:gd name="T107" fmla="*/ 2396 h 6419"/>
                <a:gd name="T108" fmla="*/ 4532 w 6419"/>
                <a:gd name="T109" fmla="*/ 4945 h 6419"/>
                <a:gd name="T110" fmla="*/ 4601 w 6419"/>
                <a:gd name="T111" fmla="*/ 5375 h 6419"/>
                <a:gd name="T112" fmla="*/ 4446 w 6419"/>
                <a:gd name="T113" fmla="*/ 5530 h 6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19" h="6419">
                  <a:moveTo>
                    <a:pt x="3209" y="0"/>
                  </a:moveTo>
                  <a:cubicBezTo>
                    <a:pt x="1437" y="0"/>
                    <a:pt x="0" y="1437"/>
                    <a:pt x="0" y="3209"/>
                  </a:cubicBezTo>
                  <a:cubicBezTo>
                    <a:pt x="0" y="4982"/>
                    <a:pt x="1437" y="6419"/>
                    <a:pt x="3209" y="6419"/>
                  </a:cubicBezTo>
                  <a:cubicBezTo>
                    <a:pt x="4982" y="6419"/>
                    <a:pt x="6419" y="4982"/>
                    <a:pt x="6419" y="3209"/>
                  </a:cubicBezTo>
                  <a:cubicBezTo>
                    <a:pt x="6419" y="1437"/>
                    <a:pt x="4982" y="0"/>
                    <a:pt x="3209" y="0"/>
                  </a:cubicBezTo>
                  <a:close/>
                  <a:moveTo>
                    <a:pt x="2496" y="889"/>
                  </a:moveTo>
                  <a:cubicBezTo>
                    <a:pt x="2582" y="889"/>
                    <a:pt x="2651" y="958"/>
                    <a:pt x="2651" y="1044"/>
                  </a:cubicBezTo>
                  <a:cubicBezTo>
                    <a:pt x="2651" y="1168"/>
                    <a:pt x="2694" y="1282"/>
                    <a:pt x="2763" y="1375"/>
                  </a:cubicBezTo>
                  <a:cubicBezTo>
                    <a:pt x="2885" y="1276"/>
                    <a:pt x="3039" y="1214"/>
                    <a:pt x="3209" y="1214"/>
                  </a:cubicBezTo>
                  <a:cubicBezTo>
                    <a:pt x="3379" y="1214"/>
                    <a:pt x="3533" y="1276"/>
                    <a:pt x="3656" y="1375"/>
                  </a:cubicBezTo>
                  <a:cubicBezTo>
                    <a:pt x="3725" y="1282"/>
                    <a:pt x="3767" y="1168"/>
                    <a:pt x="3767" y="1044"/>
                  </a:cubicBezTo>
                  <a:cubicBezTo>
                    <a:pt x="3767" y="958"/>
                    <a:pt x="3836" y="889"/>
                    <a:pt x="3922" y="889"/>
                  </a:cubicBezTo>
                  <a:cubicBezTo>
                    <a:pt x="4008" y="889"/>
                    <a:pt x="4077" y="958"/>
                    <a:pt x="4077" y="1044"/>
                  </a:cubicBezTo>
                  <a:cubicBezTo>
                    <a:pt x="4077" y="1267"/>
                    <a:pt x="3992" y="1470"/>
                    <a:pt x="3853" y="1624"/>
                  </a:cubicBezTo>
                  <a:cubicBezTo>
                    <a:pt x="3896" y="1717"/>
                    <a:pt x="3922" y="1818"/>
                    <a:pt x="3922" y="1927"/>
                  </a:cubicBezTo>
                  <a:cubicBezTo>
                    <a:pt x="3922" y="1954"/>
                    <a:pt x="3917" y="1980"/>
                    <a:pt x="3914" y="2007"/>
                  </a:cubicBezTo>
                  <a:cubicBezTo>
                    <a:pt x="4254" y="2142"/>
                    <a:pt x="4452" y="2369"/>
                    <a:pt x="4543" y="2582"/>
                  </a:cubicBezTo>
                  <a:cubicBezTo>
                    <a:pt x="4682" y="2349"/>
                    <a:pt x="4763" y="2078"/>
                    <a:pt x="4763" y="1787"/>
                  </a:cubicBezTo>
                  <a:cubicBezTo>
                    <a:pt x="4763" y="1701"/>
                    <a:pt x="4833" y="1632"/>
                    <a:pt x="4919" y="1632"/>
                  </a:cubicBezTo>
                  <a:cubicBezTo>
                    <a:pt x="5004" y="1632"/>
                    <a:pt x="5074" y="1701"/>
                    <a:pt x="5074" y="1787"/>
                  </a:cubicBezTo>
                  <a:cubicBezTo>
                    <a:pt x="5074" y="2268"/>
                    <a:pt x="4890" y="2705"/>
                    <a:pt x="4590" y="3036"/>
                  </a:cubicBezTo>
                  <a:cubicBezTo>
                    <a:pt x="4585" y="3074"/>
                    <a:pt x="4579" y="3115"/>
                    <a:pt x="4572" y="3160"/>
                  </a:cubicBezTo>
                  <a:cubicBezTo>
                    <a:pt x="4882" y="3493"/>
                    <a:pt x="5074" y="3938"/>
                    <a:pt x="5074" y="4428"/>
                  </a:cubicBezTo>
                  <a:cubicBezTo>
                    <a:pt x="5074" y="4474"/>
                    <a:pt x="5053" y="4514"/>
                    <a:pt x="5022" y="4542"/>
                  </a:cubicBezTo>
                  <a:lnTo>
                    <a:pt x="4752" y="4272"/>
                  </a:lnTo>
                  <a:lnTo>
                    <a:pt x="4748" y="4268"/>
                  </a:lnTo>
                  <a:cubicBezTo>
                    <a:pt x="4719" y="4012"/>
                    <a:pt x="4632" y="3774"/>
                    <a:pt x="4494" y="3571"/>
                  </a:cubicBezTo>
                  <a:cubicBezTo>
                    <a:pt x="4467" y="3682"/>
                    <a:pt x="4434" y="3799"/>
                    <a:pt x="4397" y="3918"/>
                  </a:cubicBezTo>
                  <a:lnTo>
                    <a:pt x="4394" y="3914"/>
                  </a:lnTo>
                  <a:lnTo>
                    <a:pt x="2492" y="2012"/>
                  </a:lnTo>
                  <a:cubicBezTo>
                    <a:pt x="2496" y="2010"/>
                    <a:pt x="2500" y="2008"/>
                    <a:pt x="2504" y="2007"/>
                  </a:cubicBezTo>
                  <a:cubicBezTo>
                    <a:pt x="2501" y="1980"/>
                    <a:pt x="2496" y="1954"/>
                    <a:pt x="2496" y="1927"/>
                  </a:cubicBezTo>
                  <a:cubicBezTo>
                    <a:pt x="2496" y="1818"/>
                    <a:pt x="2522" y="1717"/>
                    <a:pt x="2566" y="1624"/>
                  </a:cubicBezTo>
                  <a:cubicBezTo>
                    <a:pt x="2427" y="1470"/>
                    <a:pt x="2341" y="1267"/>
                    <a:pt x="2341" y="1044"/>
                  </a:cubicBezTo>
                  <a:cubicBezTo>
                    <a:pt x="2341" y="958"/>
                    <a:pt x="2410" y="889"/>
                    <a:pt x="2496" y="889"/>
                  </a:cubicBezTo>
                  <a:close/>
                  <a:moveTo>
                    <a:pt x="4446" y="5530"/>
                  </a:moveTo>
                  <a:cubicBezTo>
                    <a:pt x="4360" y="5530"/>
                    <a:pt x="4291" y="5460"/>
                    <a:pt x="4291" y="5375"/>
                  </a:cubicBezTo>
                  <a:cubicBezTo>
                    <a:pt x="4291" y="5120"/>
                    <a:pt x="4201" y="4885"/>
                    <a:pt x="4053" y="4700"/>
                  </a:cubicBezTo>
                  <a:cubicBezTo>
                    <a:pt x="3843" y="5043"/>
                    <a:pt x="3566" y="5295"/>
                    <a:pt x="3209" y="5295"/>
                  </a:cubicBezTo>
                  <a:cubicBezTo>
                    <a:pt x="2852" y="5295"/>
                    <a:pt x="2575" y="5043"/>
                    <a:pt x="2365" y="4700"/>
                  </a:cubicBezTo>
                  <a:cubicBezTo>
                    <a:pt x="2217" y="4885"/>
                    <a:pt x="2128" y="5120"/>
                    <a:pt x="2128" y="5375"/>
                  </a:cubicBezTo>
                  <a:cubicBezTo>
                    <a:pt x="2128" y="5460"/>
                    <a:pt x="2058" y="5530"/>
                    <a:pt x="1973" y="5530"/>
                  </a:cubicBezTo>
                  <a:cubicBezTo>
                    <a:pt x="1887" y="5530"/>
                    <a:pt x="1817" y="5460"/>
                    <a:pt x="1817" y="5375"/>
                  </a:cubicBezTo>
                  <a:cubicBezTo>
                    <a:pt x="1817" y="4999"/>
                    <a:pt x="1968" y="4658"/>
                    <a:pt x="2211" y="4407"/>
                  </a:cubicBezTo>
                  <a:cubicBezTo>
                    <a:pt x="2082" y="4128"/>
                    <a:pt x="1989" y="3823"/>
                    <a:pt x="1925" y="3554"/>
                  </a:cubicBezTo>
                  <a:cubicBezTo>
                    <a:pt x="1755" y="3803"/>
                    <a:pt x="1655" y="4104"/>
                    <a:pt x="1655" y="4428"/>
                  </a:cubicBezTo>
                  <a:cubicBezTo>
                    <a:pt x="1655" y="4513"/>
                    <a:pt x="1585" y="4583"/>
                    <a:pt x="1500" y="4583"/>
                  </a:cubicBezTo>
                  <a:cubicBezTo>
                    <a:pt x="1414" y="4583"/>
                    <a:pt x="1344" y="4513"/>
                    <a:pt x="1344" y="4428"/>
                  </a:cubicBezTo>
                  <a:cubicBezTo>
                    <a:pt x="1344" y="3938"/>
                    <a:pt x="1536" y="3493"/>
                    <a:pt x="1846" y="3160"/>
                  </a:cubicBezTo>
                  <a:cubicBezTo>
                    <a:pt x="1839" y="3115"/>
                    <a:pt x="1833" y="3074"/>
                    <a:pt x="1828" y="3036"/>
                  </a:cubicBezTo>
                  <a:cubicBezTo>
                    <a:pt x="1529" y="2705"/>
                    <a:pt x="1344" y="2268"/>
                    <a:pt x="1344" y="1787"/>
                  </a:cubicBezTo>
                  <a:cubicBezTo>
                    <a:pt x="1344" y="1778"/>
                    <a:pt x="1348" y="1771"/>
                    <a:pt x="1350" y="1762"/>
                  </a:cubicBezTo>
                  <a:lnTo>
                    <a:pt x="1692" y="2105"/>
                  </a:lnTo>
                  <a:lnTo>
                    <a:pt x="1983" y="2396"/>
                  </a:lnTo>
                  <a:lnTo>
                    <a:pt x="4532" y="4945"/>
                  </a:lnTo>
                  <a:cubicBezTo>
                    <a:pt x="4576" y="5080"/>
                    <a:pt x="4601" y="5224"/>
                    <a:pt x="4601" y="5375"/>
                  </a:cubicBezTo>
                  <a:cubicBezTo>
                    <a:pt x="4601" y="5460"/>
                    <a:pt x="4532" y="5530"/>
                    <a:pt x="4446" y="553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0" name="Triangle 139">
            <a:extLst>
              <a:ext uri="{FF2B5EF4-FFF2-40B4-BE49-F238E27FC236}">
                <a16:creationId xmlns:a16="http://schemas.microsoft.com/office/drawing/2014/main" id="{BE98E4E0-B694-5B2E-78A8-67D50FE228A0}"/>
              </a:ext>
            </a:extLst>
          </p:cNvPr>
          <p:cNvSpPr>
            <a:spLocks noChangeAspect="1"/>
          </p:cNvSpPr>
          <p:nvPr/>
        </p:nvSpPr>
        <p:spPr>
          <a:xfrm rot="1812957">
            <a:off x="9899305" y="4064234"/>
            <a:ext cx="140645" cy="108000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CN" sz="1200">
              <a:solidFill>
                <a:prstClr val="white"/>
              </a:solidFill>
            </a:endParaRP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7E0052C-BCC8-2F30-9F3C-7E393240554E}"/>
              </a:ext>
            </a:extLst>
          </p:cNvPr>
          <p:cNvGrpSpPr/>
          <p:nvPr/>
        </p:nvGrpSpPr>
        <p:grpSpPr>
          <a:xfrm>
            <a:off x="9942452" y="4130242"/>
            <a:ext cx="1499354" cy="564338"/>
            <a:chOff x="9976319" y="4169080"/>
            <a:chExt cx="1499354" cy="564338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05DE2DB9-B091-4EB2-D850-8ED2D87C4759}"/>
                </a:ext>
              </a:extLst>
            </p:cNvPr>
            <p:cNvGrpSpPr/>
            <p:nvPr/>
          </p:nvGrpSpPr>
          <p:grpSpPr>
            <a:xfrm>
              <a:off x="9976319" y="4169080"/>
              <a:ext cx="1499354" cy="564338"/>
              <a:chOff x="9342222" y="5269484"/>
              <a:chExt cx="1499354" cy="564338"/>
            </a:xfrm>
          </p:grpSpPr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90DBA29D-C24B-EE99-3FFF-2F8C76D070F8}"/>
                  </a:ext>
                </a:extLst>
              </p:cNvPr>
              <p:cNvCxnSpPr>
                <a:cxnSpLocks/>
                <a:stCxn id="140" idx="3"/>
                <a:endCxn id="143" idx="1"/>
              </p:cNvCxnSpPr>
              <p:nvPr/>
            </p:nvCxnSpPr>
            <p:spPr>
              <a:xfrm>
                <a:off x="9342222" y="5304140"/>
                <a:ext cx="126165" cy="247513"/>
              </a:xfrm>
              <a:prstGeom prst="line">
                <a:avLst/>
              </a:prstGeom>
              <a:ln w="6350">
                <a:solidFill>
                  <a:schemeClr val="accent6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B6462DA1-FB6B-DB23-F661-26CFA1FF85A3}"/>
                  </a:ext>
                </a:extLst>
              </p:cNvPr>
              <p:cNvGrpSpPr/>
              <p:nvPr/>
            </p:nvGrpSpPr>
            <p:grpSpPr>
              <a:xfrm>
                <a:off x="9468387" y="5269484"/>
                <a:ext cx="1373189" cy="564338"/>
                <a:chOff x="9656858" y="4944068"/>
                <a:chExt cx="1373189" cy="564338"/>
              </a:xfrm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B77CA87F-813E-7918-4688-BB55A246F563}"/>
                    </a:ext>
                  </a:extLst>
                </p:cNvPr>
                <p:cNvSpPr/>
                <p:nvPr/>
              </p:nvSpPr>
              <p:spPr>
                <a:xfrm>
                  <a:off x="9656858" y="4944068"/>
                  <a:ext cx="1373189" cy="564338"/>
                </a:xfrm>
                <a:prstGeom prst="rect">
                  <a:avLst/>
                </a:prstGeom>
                <a:noFill/>
                <a:ln w="6350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0" tIns="72000" rIns="180000" bIns="182880" rtlCol="0" anchor="t"/>
                <a:lstStyle/>
                <a:p>
                  <a:r>
                    <a:rPr lang="en-US" sz="1200" b="1" err="1">
                      <a:solidFill>
                        <a:schemeClr val="bg2"/>
                      </a:solidFill>
                    </a:rPr>
                    <a:t>功能完备</a:t>
                  </a:r>
                  <a:endParaRPr lang="en-CN" sz="120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826AA298-B5FA-FB2B-CEA7-E3214B0AEFD8}"/>
                    </a:ext>
                  </a:extLst>
                </p:cNvPr>
                <p:cNvSpPr txBox="1"/>
                <p:nvPr/>
              </p:nvSpPr>
              <p:spPr>
                <a:xfrm>
                  <a:off x="9780646" y="5309485"/>
                  <a:ext cx="1154162" cy="153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zh-CN" altLang="en-US" sz="1000"/>
                    <a:t>填补短板、场景支撑</a:t>
                  </a:r>
                  <a:endParaRPr lang="en-CN" sz="1000"/>
                </a:p>
              </p:txBody>
            </p:sp>
          </p:grpSp>
        </p:grpSp>
        <p:sp>
          <p:nvSpPr>
            <p:cNvPr id="138" name="reload-arrow_64242">
              <a:extLst>
                <a:ext uri="{FF2B5EF4-FFF2-40B4-BE49-F238E27FC236}">
                  <a16:creationId xmlns:a16="http://schemas.microsoft.com/office/drawing/2014/main" id="{8A96B7F0-D9AC-5DBC-0A42-263987546340}"/>
                </a:ext>
              </a:extLst>
            </p:cNvPr>
            <p:cNvSpPr/>
            <p:nvPr/>
          </p:nvSpPr>
          <p:spPr>
            <a:xfrm>
              <a:off x="10194771" y="4225255"/>
              <a:ext cx="216327" cy="216029"/>
            </a:xfrm>
            <a:custGeom>
              <a:avLst/>
              <a:gdLst>
                <a:gd name="T0" fmla="*/ 5308 w 6455"/>
                <a:gd name="T1" fmla="*/ 1150 h 6455"/>
                <a:gd name="T2" fmla="*/ 1150 w 6455"/>
                <a:gd name="T3" fmla="*/ 1148 h 6455"/>
                <a:gd name="T4" fmla="*/ 1148 w 6455"/>
                <a:gd name="T5" fmla="*/ 5305 h 6455"/>
                <a:gd name="T6" fmla="*/ 5305 w 6455"/>
                <a:gd name="T7" fmla="*/ 5308 h 6455"/>
                <a:gd name="T8" fmla="*/ 5308 w 6455"/>
                <a:gd name="T9" fmla="*/ 1150 h 6455"/>
                <a:gd name="T10" fmla="*/ 3228 w 6455"/>
                <a:gd name="T11" fmla="*/ 5190 h 6455"/>
                <a:gd name="T12" fmla="*/ 1264 w 6455"/>
                <a:gd name="T13" fmla="*/ 3227 h 6455"/>
                <a:gd name="T14" fmla="*/ 1529 w 6455"/>
                <a:gd name="T15" fmla="*/ 2241 h 6455"/>
                <a:gd name="T16" fmla="*/ 1377 w 6455"/>
                <a:gd name="T17" fmla="*/ 2068 h 6455"/>
                <a:gd name="T18" fmla="*/ 1359 w 6455"/>
                <a:gd name="T19" fmla="*/ 1976 h 6455"/>
                <a:gd name="T20" fmla="*/ 1429 w 6455"/>
                <a:gd name="T21" fmla="*/ 1915 h 6455"/>
                <a:gd name="T22" fmla="*/ 2463 w 6455"/>
                <a:gd name="T23" fmla="*/ 1691 h 6455"/>
                <a:gd name="T24" fmla="*/ 2551 w 6455"/>
                <a:gd name="T25" fmla="*/ 1721 h 6455"/>
                <a:gd name="T26" fmla="*/ 2570 w 6455"/>
                <a:gd name="T27" fmla="*/ 1813 h 6455"/>
                <a:gd name="T28" fmla="*/ 2266 w 6455"/>
                <a:gd name="T29" fmla="*/ 2867 h 6455"/>
                <a:gd name="T30" fmla="*/ 2196 w 6455"/>
                <a:gd name="T31" fmla="*/ 2929 h 6455"/>
                <a:gd name="T32" fmla="*/ 2107 w 6455"/>
                <a:gd name="T33" fmla="*/ 2899 h 6455"/>
                <a:gd name="T34" fmla="*/ 1963 w 6455"/>
                <a:gd name="T35" fmla="*/ 2737 h 6455"/>
                <a:gd name="T36" fmla="*/ 1872 w 6455"/>
                <a:gd name="T37" fmla="*/ 3227 h 6455"/>
                <a:gd name="T38" fmla="*/ 3228 w 6455"/>
                <a:gd name="T39" fmla="*/ 4582 h 6455"/>
                <a:gd name="T40" fmla="*/ 4584 w 6455"/>
                <a:gd name="T41" fmla="*/ 3227 h 6455"/>
                <a:gd name="T42" fmla="*/ 3315 w 6455"/>
                <a:gd name="T43" fmla="*/ 1874 h 6455"/>
                <a:gd name="T44" fmla="*/ 3228 w 6455"/>
                <a:gd name="T45" fmla="*/ 1781 h 6455"/>
                <a:gd name="T46" fmla="*/ 3228 w 6455"/>
                <a:gd name="T47" fmla="*/ 1359 h 6455"/>
                <a:gd name="T48" fmla="*/ 3257 w 6455"/>
                <a:gd name="T49" fmla="*/ 1291 h 6455"/>
                <a:gd name="T50" fmla="*/ 3326 w 6455"/>
                <a:gd name="T51" fmla="*/ 1266 h 6455"/>
                <a:gd name="T52" fmla="*/ 4648 w 6455"/>
                <a:gd name="T53" fmla="*/ 1872 h 6455"/>
                <a:gd name="T54" fmla="*/ 5191 w 6455"/>
                <a:gd name="T55" fmla="*/ 3227 h 6455"/>
                <a:gd name="T56" fmla="*/ 3228 w 6455"/>
                <a:gd name="T57" fmla="*/ 5190 h 6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55" h="6455">
                  <a:moveTo>
                    <a:pt x="5308" y="1150"/>
                  </a:moveTo>
                  <a:cubicBezTo>
                    <a:pt x="4161" y="2"/>
                    <a:pt x="2299" y="0"/>
                    <a:pt x="1150" y="1148"/>
                  </a:cubicBezTo>
                  <a:cubicBezTo>
                    <a:pt x="2" y="2295"/>
                    <a:pt x="0" y="4157"/>
                    <a:pt x="1148" y="5305"/>
                  </a:cubicBezTo>
                  <a:cubicBezTo>
                    <a:pt x="2295" y="6454"/>
                    <a:pt x="4157" y="6455"/>
                    <a:pt x="5305" y="5308"/>
                  </a:cubicBezTo>
                  <a:cubicBezTo>
                    <a:pt x="6454" y="4161"/>
                    <a:pt x="6455" y="2299"/>
                    <a:pt x="5308" y="1150"/>
                  </a:cubicBezTo>
                  <a:close/>
                  <a:moveTo>
                    <a:pt x="3228" y="5190"/>
                  </a:moveTo>
                  <a:cubicBezTo>
                    <a:pt x="2145" y="5190"/>
                    <a:pt x="1264" y="4309"/>
                    <a:pt x="1264" y="3227"/>
                  </a:cubicBezTo>
                  <a:cubicBezTo>
                    <a:pt x="1264" y="2880"/>
                    <a:pt x="1356" y="2540"/>
                    <a:pt x="1529" y="2241"/>
                  </a:cubicBezTo>
                  <a:lnTo>
                    <a:pt x="1377" y="2068"/>
                  </a:lnTo>
                  <a:cubicBezTo>
                    <a:pt x="1355" y="2043"/>
                    <a:pt x="1348" y="2008"/>
                    <a:pt x="1359" y="1976"/>
                  </a:cubicBezTo>
                  <a:cubicBezTo>
                    <a:pt x="1370" y="1945"/>
                    <a:pt x="1397" y="1921"/>
                    <a:pt x="1429" y="1915"/>
                  </a:cubicBezTo>
                  <a:lnTo>
                    <a:pt x="2463" y="1691"/>
                  </a:lnTo>
                  <a:cubicBezTo>
                    <a:pt x="2496" y="1685"/>
                    <a:pt x="2529" y="1696"/>
                    <a:pt x="2551" y="1721"/>
                  </a:cubicBezTo>
                  <a:cubicBezTo>
                    <a:pt x="2573" y="1746"/>
                    <a:pt x="2580" y="1781"/>
                    <a:pt x="2570" y="1813"/>
                  </a:cubicBezTo>
                  <a:lnTo>
                    <a:pt x="2266" y="2867"/>
                  </a:lnTo>
                  <a:cubicBezTo>
                    <a:pt x="2255" y="2899"/>
                    <a:pt x="2228" y="2922"/>
                    <a:pt x="2196" y="2929"/>
                  </a:cubicBezTo>
                  <a:cubicBezTo>
                    <a:pt x="2163" y="2935"/>
                    <a:pt x="2129" y="2924"/>
                    <a:pt x="2107" y="2899"/>
                  </a:cubicBezTo>
                  <a:lnTo>
                    <a:pt x="1963" y="2737"/>
                  </a:lnTo>
                  <a:cubicBezTo>
                    <a:pt x="1903" y="2893"/>
                    <a:pt x="1872" y="3058"/>
                    <a:pt x="1872" y="3227"/>
                  </a:cubicBezTo>
                  <a:cubicBezTo>
                    <a:pt x="1872" y="3974"/>
                    <a:pt x="2480" y="4582"/>
                    <a:pt x="3228" y="4582"/>
                  </a:cubicBezTo>
                  <a:cubicBezTo>
                    <a:pt x="3975" y="4582"/>
                    <a:pt x="4584" y="3974"/>
                    <a:pt x="4584" y="3227"/>
                  </a:cubicBezTo>
                  <a:cubicBezTo>
                    <a:pt x="4584" y="2514"/>
                    <a:pt x="4026" y="1919"/>
                    <a:pt x="3315" y="1874"/>
                  </a:cubicBezTo>
                  <a:cubicBezTo>
                    <a:pt x="3266" y="1871"/>
                    <a:pt x="3228" y="1830"/>
                    <a:pt x="3228" y="1781"/>
                  </a:cubicBezTo>
                  <a:lnTo>
                    <a:pt x="3228" y="1359"/>
                  </a:lnTo>
                  <a:cubicBezTo>
                    <a:pt x="3228" y="1333"/>
                    <a:pt x="3238" y="1309"/>
                    <a:pt x="3257" y="1291"/>
                  </a:cubicBezTo>
                  <a:cubicBezTo>
                    <a:pt x="3275" y="1274"/>
                    <a:pt x="3300" y="1264"/>
                    <a:pt x="3326" y="1266"/>
                  </a:cubicBezTo>
                  <a:cubicBezTo>
                    <a:pt x="3829" y="1290"/>
                    <a:pt x="4298" y="1506"/>
                    <a:pt x="4648" y="1872"/>
                  </a:cubicBezTo>
                  <a:cubicBezTo>
                    <a:pt x="4998" y="2239"/>
                    <a:pt x="5191" y="2720"/>
                    <a:pt x="5191" y="3227"/>
                  </a:cubicBezTo>
                  <a:cubicBezTo>
                    <a:pt x="5191" y="4309"/>
                    <a:pt x="4311" y="5190"/>
                    <a:pt x="3228" y="519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98C50920-1D7C-8A64-39E9-C71C1CF4FD42}"/>
              </a:ext>
            </a:extLst>
          </p:cNvPr>
          <p:cNvSpPr txBox="1"/>
          <p:nvPr/>
        </p:nvSpPr>
        <p:spPr>
          <a:xfrm>
            <a:off x="8699831" y="6552307"/>
            <a:ext cx="65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CN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31D302B-0FB7-05E3-80E4-C187DE40F1F4}"/>
              </a:ext>
            </a:extLst>
          </p:cNvPr>
          <p:cNvGrpSpPr/>
          <p:nvPr/>
        </p:nvGrpSpPr>
        <p:grpSpPr>
          <a:xfrm>
            <a:off x="8803450" y="2275636"/>
            <a:ext cx="1585942" cy="564338"/>
            <a:chOff x="8803450" y="2275636"/>
            <a:chExt cx="1585942" cy="564338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403B1680-E829-6DDB-2CAF-DE6DD2BA733D}"/>
                </a:ext>
              </a:extLst>
            </p:cNvPr>
            <p:cNvGrpSpPr/>
            <p:nvPr/>
          </p:nvGrpSpPr>
          <p:grpSpPr>
            <a:xfrm>
              <a:off x="8803450" y="2275636"/>
              <a:ext cx="1585942" cy="564338"/>
              <a:chOff x="9980177" y="5027822"/>
              <a:chExt cx="1585942" cy="564338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747B2D03-2525-5D9B-F5B1-73CE37833711}"/>
                  </a:ext>
                </a:extLst>
              </p:cNvPr>
              <p:cNvSpPr/>
              <p:nvPr/>
            </p:nvSpPr>
            <p:spPr>
              <a:xfrm>
                <a:off x="9980177" y="5027822"/>
                <a:ext cx="1585942" cy="564338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0" tIns="72000" rIns="180000" bIns="182880" rtlCol="0" anchor="t"/>
              <a:lstStyle/>
              <a:p>
                <a:r>
                  <a:rPr lang="en-US" sz="1200" b="1" err="1">
                    <a:solidFill>
                      <a:schemeClr val="bg2"/>
                    </a:solidFill>
                  </a:rPr>
                  <a:t>可扩展性</a:t>
                </a:r>
                <a:endParaRPr lang="en-CN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30B6D14E-F72F-D0CA-BBB9-F1C1794520F5}"/>
                  </a:ext>
                </a:extLst>
              </p:cNvPr>
              <p:cNvSpPr txBox="1"/>
              <p:nvPr/>
            </p:nvSpPr>
            <p:spPr>
              <a:xfrm>
                <a:off x="10468642" y="5387694"/>
                <a:ext cx="256481" cy="15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sz="1000" dirty="0" err="1"/>
                  <a:t>xxxx</a:t>
                </a:r>
                <a:endParaRPr lang="en-CN" sz="1000" dirty="0"/>
              </a:p>
            </p:txBody>
          </p:sp>
        </p:grpSp>
        <p:sp>
          <p:nvSpPr>
            <p:cNvPr id="148" name="puzzle-piece_61375">
              <a:extLst>
                <a:ext uri="{FF2B5EF4-FFF2-40B4-BE49-F238E27FC236}">
                  <a16:creationId xmlns:a16="http://schemas.microsoft.com/office/drawing/2014/main" id="{CD3C2A3D-0251-389D-EA75-7F1A3B0D0C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72340" y="2332268"/>
              <a:ext cx="233991" cy="216000"/>
            </a:xfrm>
            <a:custGeom>
              <a:avLst/>
              <a:gdLst>
                <a:gd name="T0" fmla="*/ 5649 w 6524"/>
                <a:gd name="T1" fmla="*/ 2879 h 6032"/>
                <a:gd name="T2" fmla="*/ 5197 w 6524"/>
                <a:gd name="T3" fmla="*/ 3005 h 6032"/>
                <a:gd name="T4" fmla="*/ 5035 w 6524"/>
                <a:gd name="T5" fmla="*/ 3008 h 6032"/>
                <a:gd name="T6" fmla="*/ 4954 w 6524"/>
                <a:gd name="T7" fmla="*/ 2868 h 6032"/>
                <a:gd name="T8" fmla="*/ 4954 w 6524"/>
                <a:gd name="T9" fmla="*/ 1826 h 6032"/>
                <a:gd name="T10" fmla="*/ 4659 w 6524"/>
                <a:gd name="T11" fmla="*/ 1537 h 6032"/>
                <a:gd name="T12" fmla="*/ 3382 w 6524"/>
                <a:gd name="T13" fmla="*/ 1537 h 6032"/>
                <a:gd name="T14" fmla="*/ 3244 w 6524"/>
                <a:gd name="T15" fmla="*/ 1458 h 6032"/>
                <a:gd name="T16" fmla="*/ 3242 w 6524"/>
                <a:gd name="T17" fmla="*/ 1299 h 6032"/>
                <a:gd name="T18" fmla="*/ 3351 w 6524"/>
                <a:gd name="T19" fmla="*/ 875 h 6032"/>
                <a:gd name="T20" fmla="*/ 2476 w 6524"/>
                <a:gd name="T21" fmla="*/ 0 h 6032"/>
                <a:gd name="T22" fmla="*/ 1601 w 6524"/>
                <a:gd name="T23" fmla="*/ 875 h 6032"/>
                <a:gd name="T24" fmla="*/ 1710 w 6524"/>
                <a:gd name="T25" fmla="*/ 1299 h 6032"/>
                <a:gd name="T26" fmla="*/ 1708 w 6524"/>
                <a:gd name="T27" fmla="*/ 1458 h 6032"/>
                <a:gd name="T28" fmla="*/ 1570 w 6524"/>
                <a:gd name="T29" fmla="*/ 1537 h 6032"/>
                <a:gd name="T30" fmla="*/ 294 w 6524"/>
                <a:gd name="T31" fmla="*/ 1537 h 6032"/>
                <a:gd name="T32" fmla="*/ 0 w 6524"/>
                <a:gd name="T33" fmla="*/ 1826 h 6032"/>
                <a:gd name="T34" fmla="*/ 0 w 6524"/>
                <a:gd name="T35" fmla="*/ 2842 h 6032"/>
                <a:gd name="T36" fmla="*/ 78 w 6524"/>
                <a:gd name="T37" fmla="*/ 2980 h 6032"/>
                <a:gd name="T38" fmla="*/ 236 w 6524"/>
                <a:gd name="T39" fmla="*/ 2983 h 6032"/>
                <a:gd name="T40" fmla="*/ 652 w 6524"/>
                <a:gd name="T41" fmla="*/ 2879 h 6032"/>
                <a:gd name="T42" fmla="*/ 1526 w 6524"/>
                <a:gd name="T43" fmla="*/ 3754 h 6032"/>
                <a:gd name="T44" fmla="*/ 652 w 6524"/>
                <a:gd name="T45" fmla="*/ 4628 h 6032"/>
                <a:gd name="T46" fmla="*/ 236 w 6524"/>
                <a:gd name="T47" fmla="*/ 4524 h 6032"/>
                <a:gd name="T48" fmla="*/ 78 w 6524"/>
                <a:gd name="T49" fmla="*/ 4527 h 6032"/>
                <a:gd name="T50" fmla="*/ 0 w 6524"/>
                <a:gd name="T51" fmla="*/ 4665 h 6032"/>
                <a:gd name="T52" fmla="*/ 0 w 6524"/>
                <a:gd name="T53" fmla="*/ 5741 h 6032"/>
                <a:gd name="T54" fmla="*/ 294 w 6524"/>
                <a:gd name="T55" fmla="*/ 6032 h 6032"/>
                <a:gd name="T56" fmla="*/ 4659 w 6524"/>
                <a:gd name="T57" fmla="*/ 6032 h 6032"/>
                <a:gd name="T58" fmla="*/ 4954 w 6524"/>
                <a:gd name="T59" fmla="*/ 5741 h 6032"/>
                <a:gd name="T60" fmla="*/ 4954 w 6524"/>
                <a:gd name="T61" fmla="*/ 4639 h 6032"/>
                <a:gd name="T62" fmla="*/ 5035 w 6524"/>
                <a:gd name="T63" fmla="*/ 4499 h 6032"/>
                <a:gd name="T64" fmla="*/ 5197 w 6524"/>
                <a:gd name="T65" fmla="*/ 4502 h 6032"/>
                <a:gd name="T66" fmla="*/ 5649 w 6524"/>
                <a:gd name="T67" fmla="*/ 4628 h 6032"/>
                <a:gd name="T68" fmla="*/ 6524 w 6524"/>
                <a:gd name="T69" fmla="*/ 3754 h 6032"/>
                <a:gd name="T70" fmla="*/ 5649 w 6524"/>
                <a:gd name="T71" fmla="*/ 2879 h 6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524" h="6032">
                  <a:moveTo>
                    <a:pt x="5649" y="2879"/>
                  </a:moveTo>
                  <a:cubicBezTo>
                    <a:pt x="5483" y="2879"/>
                    <a:pt x="5329" y="2925"/>
                    <a:pt x="5197" y="3005"/>
                  </a:cubicBezTo>
                  <a:cubicBezTo>
                    <a:pt x="5148" y="3035"/>
                    <a:pt x="5086" y="3036"/>
                    <a:pt x="5035" y="3008"/>
                  </a:cubicBezTo>
                  <a:cubicBezTo>
                    <a:pt x="4985" y="2979"/>
                    <a:pt x="4954" y="2926"/>
                    <a:pt x="4954" y="2868"/>
                  </a:cubicBezTo>
                  <a:lnTo>
                    <a:pt x="4954" y="1826"/>
                  </a:lnTo>
                  <a:cubicBezTo>
                    <a:pt x="4954" y="1666"/>
                    <a:pt x="4819" y="1537"/>
                    <a:pt x="4659" y="1537"/>
                  </a:cubicBezTo>
                  <a:lnTo>
                    <a:pt x="3382" y="1537"/>
                  </a:lnTo>
                  <a:cubicBezTo>
                    <a:pt x="3325" y="1537"/>
                    <a:pt x="3273" y="1507"/>
                    <a:pt x="3244" y="1458"/>
                  </a:cubicBezTo>
                  <a:cubicBezTo>
                    <a:pt x="3215" y="1409"/>
                    <a:pt x="3214" y="1349"/>
                    <a:pt x="3242" y="1299"/>
                  </a:cubicBezTo>
                  <a:cubicBezTo>
                    <a:pt x="3311" y="1173"/>
                    <a:pt x="3351" y="1028"/>
                    <a:pt x="3351" y="875"/>
                  </a:cubicBezTo>
                  <a:cubicBezTo>
                    <a:pt x="3351" y="392"/>
                    <a:pt x="2959" y="0"/>
                    <a:pt x="2476" y="0"/>
                  </a:cubicBezTo>
                  <a:cubicBezTo>
                    <a:pt x="1993" y="0"/>
                    <a:pt x="1601" y="392"/>
                    <a:pt x="1601" y="875"/>
                  </a:cubicBezTo>
                  <a:cubicBezTo>
                    <a:pt x="1601" y="1028"/>
                    <a:pt x="1641" y="1173"/>
                    <a:pt x="1710" y="1299"/>
                  </a:cubicBezTo>
                  <a:cubicBezTo>
                    <a:pt x="1738" y="1349"/>
                    <a:pt x="1737" y="1409"/>
                    <a:pt x="1708" y="1458"/>
                  </a:cubicBezTo>
                  <a:cubicBezTo>
                    <a:pt x="1679" y="1507"/>
                    <a:pt x="1627" y="1537"/>
                    <a:pt x="1570" y="1537"/>
                  </a:cubicBezTo>
                  <a:lnTo>
                    <a:pt x="294" y="1537"/>
                  </a:lnTo>
                  <a:cubicBezTo>
                    <a:pt x="133" y="1537"/>
                    <a:pt x="0" y="1666"/>
                    <a:pt x="0" y="1826"/>
                  </a:cubicBezTo>
                  <a:lnTo>
                    <a:pt x="0" y="2842"/>
                  </a:lnTo>
                  <a:cubicBezTo>
                    <a:pt x="0" y="2899"/>
                    <a:pt x="30" y="2951"/>
                    <a:pt x="78" y="2980"/>
                  </a:cubicBezTo>
                  <a:cubicBezTo>
                    <a:pt x="127" y="3009"/>
                    <a:pt x="187" y="3010"/>
                    <a:pt x="236" y="2983"/>
                  </a:cubicBezTo>
                  <a:cubicBezTo>
                    <a:pt x="360" y="2917"/>
                    <a:pt x="501" y="2879"/>
                    <a:pt x="652" y="2879"/>
                  </a:cubicBezTo>
                  <a:cubicBezTo>
                    <a:pt x="1135" y="2879"/>
                    <a:pt x="1526" y="3270"/>
                    <a:pt x="1526" y="3754"/>
                  </a:cubicBezTo>
                  <a:cubicBezTo>
                    <a:pt x="1526" y="4237"/>
                    <a:pt x="1135" y="4628"/>
                    <a:pt x="652" y="4628"/>
                  </a:cubicBezTo>
                  <a:cubicBezTo>
                    <a:pt x="501" y="4628"/>
                    <a:pt x="360" y="4590"/>
                    <a:pt x="236" y="4524"/>
                  </a:cubicBezTo>
                  <a:cubicBezTo>
                    <a:pt x="187" y="4497"/>
                    <a:pt x="127" y="4498"/>
                    <a:pt x="78" y="4527"/>
                  </a:cubicBezTo>
                  <a:cubicBezTo>
                    <a:pt x="30" y="4556"/>
                    <a:pt x="0" y="4608"/>
                    <a:pt x="0" y="4665"/>
                  </a:cubicBezTo>
                  <a:lnTo>
                    <a:pt x="0" y="5741"/>
                  </a:lnTo>
                  <a:cubicBezTo>
                    <a:pt x="0" y="5902"/>
                    <a:pt x="133" y="6032"/>
                    <a:pt x="294" y="6032"/>
                  </a:cubicBezTo>
                  <a:lnTo>
                    <a:pt x="4659" y="6032"/>
                  </a:lnTo>
                  <a:cubicBezTo>
                    <a:pt x="4819" y="6032"/>
                    <a:pt x="4954" y="5902"/>
                    <a:pt x="4954" y="5741"/>
                  </a:cubicBezTo>
                  <a:lnTo>
                    <a:pt x="4954" y="4639"/>
                  </a:lnTo>
                  <a:cubicBezTo>
                    <a:pt x="4954" y="4581"/>
                    <a:pt x="4985" y="4528"/>
                    <a:pt x="5035" y="4499"/>
                  </a:cubicBezTo>
                  <a:cubicBezTo>
                    <a:pt x="5086" y="4471"/>
                    <a:pt x="5148" y="4472"/>
                    <a:pt x="5197" y="4502"/>
                  </a:cubicBezTo>
                  <a:cubicBezTo>
                    <a:pt x="5329" y="4582"/>
                    <a:pt x="5483" y="4628"/>
                    <a:pt x="5649" y="4628"/>
                  </a:cubicBezTo>
                  <a:cubicBezTo>
                    <a:pt x="6132" y="4628"/>
                    <a:pt x="6524" y="4237"/>
                    <a:pt x="6524" y="3754"/>
                  </a:cubicBezTo>
                  <a:cubicBezTo>
                    <a:pt x="6524" y="3270"/>
                    <a:pt x="6132" y="2879"/>
                    <a:pt x="5649" y="287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8184996-6D9D-70AC-818C-26BE95E128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624919"/>
              </p:ext>
            </p:extLst>
          </p:nvPr>
        </p:nvGraphicFramePr>
        <p:xfrm>
          <a:off x="675075" y="2044960"/>
          <a:ext cx="1997014" cy="4080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Left Brace 6">
            <a:extLst>
              <a:ext uri="{FF2B5EF4-FFF2-40B4-BE49-F238E27FC236}">
                <a16:creationId xmlns:a16="http://schemas.microsoft.com/office/drawing/2014/main" id="{226570A7-0804-A211-7FDB-C76D4F164314}"/>
              </a:ext>
            </a:extLst>
          </p:cNvPr>
          <p:cNvSpPr/>
          <p:nvPr/>
        </p:nvSpPr>
        <p:spPr>
          <a:xfrm rot="10800000">
            <a:off x="2319338" y="3342946"/>
            <a:ext cx="91548" cy="950713"/>
          </a:xfrm>
          <a:prstGeom prst="leftBrace">
            <a:avLst/>
          </a:prstGeom>
          <a:ln w="6350">
            <a:solidFill>
              <a:schemeClr val="accent6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FADEBC-E6CD-07D4-817A-90AF8C2DE81C}"/>
              </a:ext>
            </a:extLst>
          </p:cNvPr>
          <p:cNvCxnSpPr>
            <a:cxnSpLocks/>
          </p:cNvCxnSpPr>
          <p:nvPr/>
        </p:nvCxnSpPr>
        <p:spPr>
          <a:xfrm>
            <a:off x="1931509" y="3342946"/>
            <a:ext cx="324000" cy="0"/>
          </a:xfrm>
          <a:prstGeom prst="line">
            <a:avLst/>
          </a:prstGeom>
          <a:ln w="6350">
            <a:solidFill>
              <a:schemeClr val="accent6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7">
            <a:extLst>
              <a:ext uri="{FF2B5EF4-FFF2-40B4-BE49-F238E27FC236}">
                <a16:creationId xmlns:a16="http://schemas.microsoft.com/office/drawing/2014/main" id="{9BF55145-6D74-275D-FF3E-B068D97C6EB3}"/>
              </a:ext>
            </a:extLst>
          </p:cNvPr>
          <p:cNvSpPr txBox="1"/>
          <p:nvPr/>
        </p:nvSpPr>
        <p:spPr>
          <a:xfrm>
            <a:off x="2632759" y="3737013"/>
            <a:ext cx="237244" cy="123111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800" b="1" dirty="0" err="1">
                <a:solidFill>
                  <a:schemeClr val="accent6"/>
                </a:solidFill>
                <a:latin typeface="+mj-ea"/>
                <a:ea typeface="+mj-ea"/>
              </a:rPr>
              <a:t>xxxx</a:t>
            </a:r>
            <a:endParaRPr lang="zh-CN" altLang="en-US" sz="800" b="1" dirty="0">
              <a:solidFill>
                <a:schemeClr val="accent6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069008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6_Lenovo Master">
  <a:themeElements>
    <a:clrScheme name="NY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3B51D3"/>
      </a:accent6>
      <a:hlink>
        <a:srgbClr val="4E444E"/>
      </a:hlink>
      <a:folHlink>
        <a:srgbClr val="4E444E"/>
      </a:folHlink>
    </a:clrScheme>
    <a:fontScheme name="0412487e-26eb-487b-93b8-fbd3b934c66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00000"/>
        </a:solidFill>
        <a:ln>
          <a:noFill/>
        </a:ln>
      </a:spPr>
      <a:bodyPr lIns="182880" tIns="182880" rIns="182880" bIns="182880" rtlCol="0" anchor="t"/>
      <a:lstStyle>
        <a:defPPr algn="l">
          <a:defRPr sz="1600" dirty="0" smtClean="0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neLenovo-16x9_Lite_2022_v1" id="{047FCAC5-469E-42CA-AB3A-D685CDEC1B49}" vid="{42B59638-BCBD-4EFF-8E0C-F75D0B5357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79751A9B3A2443B4F15771F802FA70" ma:contentTypeVersion="16" ma:contentTypeDescription="Create a new document." ma:contentTypeScope="" ma:versionID="b168cbccd854eada0e30f174f65ad535">
  <xsd:schema xmlns:xsd="http://www.w3.org/2001/XMLSchema" xmlns:xs="http://www.w3.org/2001/XMLSchema" xmlns:p="http://schemas.microsoft.com/office/2006/metadata/properties" xmlns:ns2="b5a90337-e447-4dfe-8bf0-21570fb33770" xmlns:ns3="0413b080-7f0f-4176-93de-b963b5d13b52" targetNamespace="http://schemas.microsoft.com/office/2006/metadata/properties" ma:root="true" ma:fieldsID="2b3c673177f8fd0fac160479edb28ffa" ns2:_="" ns3:_="">
    <xsd:import namespace="b5a90337-e447-4dfe-8bf0-21570fb33770"/>
    <xsd:import namespace="0413b080-7f0f-4176-93de-b963b5d13b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90337-e447-4dfe-8bf0-21570fb337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13b080-7f0f-4176-93de-b963b5d13b5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580d0f4-155b-41ef-8c88-54d83e25b948}" ma:internalName="TaxCatchAll" ma:showField="CatchAllData" ma:web="0413b080-7f0f-4176-93de-b963b5d13b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413b080-7f0f-4176-93de-b963b5d13b52" xsi:nil="true"/>
    <lcf76f155ced4ddcb4097134ff3c332f xmlns="b5a90337-e447-4dfe-8bf0-21570fb3377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A4AE26-525E-4B07-A3F1-14B08C7382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a90337-e447-4dfe-8bf0-21570fb33770"/>
    <ds:schemaRef ds:uri="0413b080-7f0f-4176-93de-b963b5d13b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6CFE95-771C-4802-B140-C778003BEB93}">
  <ds:schemaRefs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0413b080-7f0f-4176-93de-b963b5d13b52"/>
    <ds:schemaRef ds:uri="b5a90337-e447-4dfe-8bf0-21570fb33770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Lenovo_Slide-Library</Template>
  <TotalTime>8</TotalTime>
  <Words>82</Words>
  <Application>Microsoft Macintosh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Microsoft YaHei</vt:lpstr>
      <vt:lpstr>Microsoft YaHei</vt:lpstr>
      <vt:lpstr>Arial</vt:lpstr>
      <vt:lpstr>Calibri</vt:lpstr>
      <vt:lpstr>6_Lenovo Master</vt:lpstr>
      <vt:lpstr>This is a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Lenovo  presentation  slide library</dc:title>
  <dc:creator>Wenjie WJ9 Zhang</dc:creator>
  <cp:lastModifiedBy>Jin Jin3 Luo</cp:lastModifiedBy>
  <cp:revision>16</cp:revision>
  <dcterms:created xsi:type="dcterms:W3CDTF">2024-12-04T08:29:36Z</dcterms:created>
  <dcterms:modified xsi:type="dcterms:W3CDTF">2026-02-28T07:52:08Z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0x010100D579751A9B3A2443B4F15771F802FA70</vt:lpwstr>
  </property>
  <property fmtid="{D5CDD505-2E9C-101B-9397-08002B2CF9AE}" pid="3" name="MediaServiceImageTags">
    <vt:lpwstr/>
  </property>
</Properties>
</file>